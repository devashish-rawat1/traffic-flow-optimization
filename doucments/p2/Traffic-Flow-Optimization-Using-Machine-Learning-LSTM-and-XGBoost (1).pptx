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6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7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8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nstrument Sans Medium" panose="020B0604020202020204" charset="0"/>
      <p:regular r:id="rId11"/>
    </p:embeddedFont>
    <p:embeddedFont>
      <p:font typeface="Instrument Sans Semi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06.9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1 377 24575,'24'-2'0,"1"-2"0,-1 0 0,0-1 0,0-2 0,0 0 0,-1-2 0,43-21 0,29-15 0,2 5 0,1 4 0,149-33 0,-163 50 0,1 3 0,1 5 0,161-2 0,-235 13 0,44 2 0,-55-2 0,1 0 0,-1 0 0,1 1 0,-1-1 0,1 0 0,-1 1 0,0-1 0,1 1 0,-1-1 0,1 1 0,-1-1 0,0 1 0,0 0 0,1 0 0,-1 0 0,0 0 0,0 0 0,0 0 0,0 0 0,0 0 0,0 0 0,0 0 0,0 1 0,-1-1 0,1 0 0,0 1 0,-1-1 0,1 0 0,0 3 0,-1-2 0,-1-1 0,1 0 0,-1 1 0,1-1 0,-1 1 0,1-1 0,-1 0 0,0 1 0,0-1 0,1 0 0,-1 0 0,0 0 0,0 0 0,0 1 0,0-1 0,-1-1 0,1 1 0,0 0 0,-2 1 0,-30 18 0,21-14 0,0 1 0,0-2 0,0 1 0,-1-2 0,1 0 0,-1 0 0,0-1 0,0-1 0,-22 2 0,-12-2 0,-53-5 0,20 0 0,-296 3 0,346 2 0,-1 1 0,1 2 0,-54 15 0,53-11 0,-1-2 0,1-1 0,-45 2 0,40-9 0,26 0 0,-1 0 0,1 1 0,-1 1 0,-10 1 0,21-2 0,0 0 0,0 0 0,0 0 0,-1 0 0,1 0 0,0 0 0,0 0 0,0 0 0,0 0 0,0 0 0,0 0 0,0 0 0,0 0 0,0 0 0,0 0 0,-1 0 0,1 0 0,0 0 0,0 0 0,0 0 0,0 0 0,0 0 0,0 0 0,0 1 0,0-1 0,0 0 0,0 0 0,0 0 0,0 0 0,0 0 0,-1 0 0,1 0 0,0 0 0,0 0 0,0 0 0,0 0 0,0 0 0,0 1 0,0-1 0,0 0 0,0 0 0,0 0 0,0 0 0,0 0 0,0 0 0,0 0 0,0 0 0,0 0 0,0 0 0,0 1 0,0-1 0,0 0 0,0 0 0,0 0 0,0 0 0,0 0 0,0 0 0,1 0 0,-1 0 0,0 0 0,0 0 0,0 0 0,0 0 0,0 1 0,9 4 0,13 2 0,41 1 0,0-2 0,125-6 0,-84-2 0,2581 1-4499,-2650 12 6662,-46 1-1171,3-7-913,0-1 0,-1 0 0,1 0 0,-1-1-1,0 0 1,0 0 0,0-1 0,0 0 0,-12 1 0,-90 1 455,89-4-513,-1621-2-21,1647 2 0,81 1 0,1-4 0,142-23 0,-125 5 0,1 4 0,192-5 0,103 24 0,-360-7 0,-39 5 0,1 0 0,0 0 0,-1-1 0,1 1 0,-1 0 0,1 0 0,-1-1 0,1 1 0,0 0 0,-1-1 0,0 1 0,1 0 0,-1-1 0,1 1 0,-1-1 0,1 1 0,-1-1 0,0 1 0,1-1 0,-1 1 0,1-2 0,-1 1 0,0 0 0,-1 0 0,1 0 0,0 1 0,0-1 0,-1 0 0,1 0 0,0 0 0,-1 0 0,1 1 0,-1-1 0,1 0 0,-1 0 0,1 1 0,-1-1 0,0 0 0,1 1 0,-1-1 0,0 1 0,-1-2 0,-11-7 0,0 0 0,-1 0 0,0 1 0,-1 1 0,0 1 0,0 0 0,0 1 0,-29-6 0,8 4 0,0 2 0,-67-1 0,-433 9 0,863-3 0,-1314 0-853,923 3 730,-1 4-1,1 2 1,-81 23-1,50-10 53,-123 20 1391,201-36-1222,13 1-73,5-6-27,1 0 1,-1 0 0,0 0-1,0 0 1,0 0 0,0 0-1,1-1 1,-1 1 0,0-1-1,1 1 1,-1 0-1,0-1 1,1 0 0,-1 1-1,1-1 1,-1 0 0,3 0-1,78 7 2,144-6 0,-104-4 0,2523 3 0,-3999 0-4178,1343 0 4207,-1 0 0,1-1 0,-22-5 1,31 6 8,1 0 1,0-1 0,-1 1 0,1 0 0,0-1 0,-1 0 0,1 1-1,0-1 1,0 0 0,0 1 0,0-1 0,0 0 0,0 0 0,0 0-1,0 0 1,0 0 0,0 0 0,0-2 0,0 2 13,1-1 1,0 1 0,0 0-1,0-1 1,0 1-1,1 0 1,-1 0-1,0-1 1,0 1-1,1 0 1,-1-1 0,1 1-1,-1 0 1,1 0-1,0 0 1,-1 0-1,1 0 1,0-1-1,0 1 1,0 0 0,-1 1-1,1-1 1,2-1-1,6-5 149,0 1 0,0 0 1,0 0-1,1 1 0,0 1 0,0 0 0,0 0 0,19-4 0,10-4 51,185-53-252,-187 56 0,15-5 0,-22 6 0,0 0 0,1 2 0,0 1 0,33-1 0,-10 4 0,70-11 0,-42 5 0,109 5 0,-154 3 0,-712 0 0,669 0 0,2-1 0,1 1 0,-1 0 0,1 0 0,-1 0 0,1 0 0,-1 1 0,1-1 0,-1 1 0,1 0 0,0 0 0,-1 0 0,1 1 0,0-1 0,-4 3 0,7-4 0,0 0 0,0 0 0,0 1 0,-1-1 0,1 0 0,0 0 0,0 0 0,0 0 0,0 0 0,0 0 0,0 1 0,0-1 0,0 0 0,0 0 0,0 0 0,0 0 0,0 1 0,0-1 0,0 0 0,0 0 0,0 0 0,0 0 0,0 1 0,0-1 0,0 0 0,0 0 0,0 0 0,0 0 0,0 0 0,0 1 0,0-1 0,0 0 0,0 0 0,1 0 0,-1 0 0,0 0 0,0 0 0,0 1 0,0-1 0,0 0 0,0 0 0,1 0 0,-1 0 0,0 0 0,0 0 0,12 5 0,11-1 0,309 1 0,-185-8 0,706 3 0,-843 0 0,-1 1 0,0-1 0,1 1 0,-1 1 0,0 0 0,0 0 0,0 1 0,15 6 0,-21-7 0,-1-1 0,1 1 0,-1-1 0,1 1 0,-1 0 0,0 0 0,0 0 0,1 0 0,-2 1 0,1-1 0,0 0 0,0 1 0,-1 0 0,1-1 0,-1 1 0,0 0 0,0-1 0,0 1 0,0 0 0,0 0 0,-1 0 0,1 0 0,-1 0 0,0 0 0,0 0 0,0 0 0,0 0 0,-1 0 0,1 0 0,-2 4 0,-5 15 0,-1 0 0,-1-1 0,-1-1 0,0 1 0,-2-2 0,-15 21 0,-6 13 0,19-30 0,4-5 0,-1 0 0,-1 0 0,-16 17 0,24-31 0,-1 0 0,1-1 0,-1 0 0,0 1 0,0-2 0,0 1 0,-1-1 0,1 0 0,-1 0 0,1 0 0,-1-1 0,0 0 0,-10 1 0,-10 0 0,-45-4 0,47 1 0,-1-1 0,41 1 0,38 1 0,-11-1 0,0-2 0,55-11 0,-60 9 0,-1 1 0,50 1 0,-915 4 0,806 0 0,0 2 0,-38 8 0,37-6 0,-1-1 0,-27 1 0,-520-3 0,276-4 0,-1755 2 0,2045 0 0,0 0 0,0-1 0,-1 1 0,1-1 0,0 0 0,0-1 0,0 1 0,0-1 0,0 0 0,0 0 0,-5-4 0,9 5 0,-1 0 0,1 0 0,0 0 0,-1-1 0,1 1 0,0 0 0,0-1 0,0 1 0,0-1 0,0 1 0,1-1 0,-1 1 0,0-1 0,1 0 0,-1 0 0,1 1 0,-1-1 0,1 0 0,0 1 0,0-1 0,0 0 0,0 0 0,0 0 0,0 1 0,0-1 0,1 0 0,-1 0 0,1 1 0,-1-1 0,1 0 0,0 1 0,-1-1 0,1 1 0,0-1 0,0 1 0,3-3 0,8-14 0,1 1 0,1 1 0,1 0 0,17-14 0,2-3 0,-30 29 0,13-14 0,2 0 0,26-19 0,-38 32 0,0 1 0,0 0 0,1 0 0,-1 0 0,1 1 0,0 0 0,0 1 0,0 0 0,0 0 0,17-1 0,154 3 0,-69 3 0,-89-2 0,-1 0 0,1 2 0,-1 0 0,1 2 0,-1 0 0,-1 1 0,21 9 0,15 10 0,54 35 0,-42-22 0,-63-36 0,0 0 0,1 1 0,-1 0 0,0 0 0,0 0 0,-1 0 0,1 1 0,-1-1 0,1 1 0,-1 0 0,0 0 0,-1 0 0,1 1 0,-1-1 0,0 0 0,0 1 0,0 0 0,0-1 0,-1 1 0,0 0 0,1 10 0,-2-10 0,0 0 0,-1 0 0,1 0 0,-1 0 0,0-1 0,-1 1 0,1 0 0,-1 0 0,0-1 0,-1 1 0,1-1 0,-1 0 0,1 1 0,-1-1 0,0 0 0,-1-1 0,1 1 0,-1-1 0,0 1 0,0-1 0,-8 5 0,-4 0 0,-1 0 0,-1-1 0,1-1 0,-1-1 0,0 0 0,0-1 0,-1-1 0,-31 1 0,-33 0 0,-124-9 0,118-9 0,59 8 0,-53-4 0,19 10 0,46 2 0,1-2 0,-1 0 0,0-1 0,1 0 0,-1-2 0,1 0 0,0-1 0,0-1 0,-22-8 0,25 5 0,1 3 0,1-1 0,1-1 0,-14-9 0,25 16 0,0 0 0,0-1 0,-1 1 0,1 0 0,0 0 0,-1 0 0,1 0 0,0-1 0,0 1 0,0 0 0,-1 0 0,1 0 0,0-1 0,0 1 0,0 0 0,-1-1 0,1 1 0,0 0 0,0 0 0,0-1 0,0 1 0,0 0 0,0-1 0,0 1 0,0 0 0,0-1 0,0 1 0,0 0 0,0 0 0,0-1 0,0 1 0,0 0 0,0-1 0,0 1 0,0 0 0,0-1 0,13-4 0,21 2 0,-32 3 0,562 1 0,-215 1 0,-231-4 0,128 5 0,-197 3 0,54 15 0,-55-10 0,61 6 0,231-13 0,-183-7 0,766 3 0,-894-1 0,0-2 0,33-7 0,-31 4 0,49-3 0,298 8 0,-178 3 0,-196-2 0,0 0 0,0 0 0,1 0 0,-1 0 0,0-1 0,0 1 0,0-1 0,8-2 0,-12 3 0,0-1 0,0 1 0,0 0 0,0 0 0,0 0 0,0 0 0,1 0 0,-1 0 0,0 0 0,0 0 0,0 0 0,0 0 0,0 0 0,0 0 0,0-1 0,0 1 0,0 0 0,0 0 0,1 0 0,-1 0 0,0 0 0,0 0 0,0 0 0,0-1 0,0 1 0,0 0 0,0 0 0,0 0 0,0 0 0,0 0 0,0 0 0,0-1 0,0 1 0,0 0 0,0 0 0,0 0 0,0 0 0,0 0 0,0 0 0,0-1 0,0 1 0,0 0 0,-1 0 0,1 0 0,0 0 0,0 0 0,0 0 0,0 0 0,0 0 0,0-1 0,0 1 0,0 0 0,-1 0 0,-9-5 0,-14-2 0,-55 0 0,0 3 0,-82 6 0,31 1 0,-2062-3 0,2183 0 0,1 1 0,0-1 0,0 2 0,-13 2 0,20-4 0,1 0 0,-1 0 0,0 1 0,0-1 0,0 0 0,0 0 0,0 1 0,0-1 0,0 1 0,0-1 0,0 1 0,0-1 0,1 1 0,-1-1 0,0 1 0,0 0 0,1-1 0,-1 1 0,0 0 0,1 0 0,-1-1 0,1 1 0,-1 0 0,1 0 0,-1 0 0,1 0 0,-1 0 0,1 0 0,0 0 0,0 0 0,0 0 0,-1 0 0,1 0 0,0 0 0,0 0 0,0 0 0,0-1 0,1 1 0,-1 0 0,0 0 0,0 0 0,1 0 0,-1 0 0,0 0 0,1 0 0,-1 0 0,1 0 0,-1 0 0,1-1 0,-1 1 0,2 1 0,7 8 0,0 0 0,0-1 0,1 0 0,0-1 0,1 0 0,-1-1 0,14 7 0,86 40 0,139 60 0,-218-102 0,1-1 0,1-1 0,-1-2 0,1-2 0,1-1 0,66 2 0,-824-9 0,424 2 0,284-1-261,0 0 0,0-2 0,0 0 0,-16-6 0,31 9 201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13.3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0 258 24553,'4219'0'0,"-4733"-257"0,1028 514 0,-1028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19.5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99 24575,'1475'0'0,"-1458"-1"0,0-1 0,0 0 0,24-8 0,-21 5 0,40-4 0,157 9 0,27-2 0,-175-11 0,-50 8 0,-1 1 0,21-1 0,272 2 0,-160 5 0,-129-3 0,-1-1 0,39-9 0,-36 6 0,-1 0 0,28 0 0,501 4 0,-266 3 0,-203-1 0,93-3 0,-130-9-1365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21.2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89 24575,'1099'0'-1222,"-826"-15"1062,8 0-5,407 17 1712,-668-4-1547,1 0 0,36-8 0,-34 4 0,46-3 0,-5 7 0,-4 1 0,89-14 0,-77 7 0,0 2 0,120 7 0,-69 1 0,108-2-1365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25.2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31 24575,'1589'0'0,"-1552"-2"0,62-11 0,-59 7 0,44-2 0,505 6 0,-284 4 0,1341-2-1365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27.7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24550,'4161'0'0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30.4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62 24575,'607'0'0,"-575"-2"0,0-2 0,0 0 0,50-16 0,-47 11 0,-1 1 0,60-4 0,350 10 0,-218 4 0,466-2-1365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34.3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60 24575,'667'0'0,"-639"-1"0,1-2 0,33-7 0,-31 4 0,49-3 0,317 8 0,-188 3 0,-185-4 0,0 0 0,35-8 0,-30 4 0,39-2 0,396 5 0,-238 5 0,1477-2-1365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36.73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88 24575,'773'0'0,"-737"-1"0,63-12 0,-61 6 0,58-1 0,799 9 0,-867-3 0,1-1 0,33-7 0,-31 4 0,49-3 0,-40 9 0,0-1 0,65-9 0,-4-1 0,0 3 0,144 8 0,-97 2 0,1294-2-1365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38.4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0 180 24575,'241'2'0,"251"-5"0,-286-10-501,60-2-237,175-9 423,-368 18 297,44-6 18,57-4 0,33 2 520,13-1 198,-48 1-470,-14 0-162,-133 13-86,1-1 0,-1-1 0,34-9 0,-17 5 7,0 2 0,1 2 0,0 1 0,55 5 0,-5 0-1407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42.5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24575,'4272'0'-1365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45.1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24575,'4157'0'-1365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49.24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24575,'0'1'0,"1"1"0,0 0 0,0-1 0,0 1 0,0-1 0,0 1 0,1-1 0,-1 0 0,0 0 0,1 1 0,-1-1 0,1 0 0,-1 0 0,1 0 0,-1-1 0,1 1 0,0 0 0,-1 0 0,1-1 0,0 1 0,0-1 0,2 1 0,13 6 0,1 5 0,-1 1 0,0 1 0,15 18 0,4 1 0,-18-15 0,-2 0 0,0 1 0,26 40 0,-37-51 0,-1 1 0,0-1 0,-1 1 0,0 0 0,0 0 0,-1 0 0,0 0 0,0 0 0,0 13 0,-1 13 0,-4 42 0,0-19 0,2 115-1365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55.39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60 24575,'1127'0'0,"-1097"-2"0,0-1 0,31-6 0,43-5 0,230 12 0,-171 3 0,-135-2 0,1-2 0,33-8 0,-31 6 0,50-4 0,489 7 0,-273 4 0,1230-2-1365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57.7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1 203 24575,'19'-1'0,"0"-1"0,35-8 0,20-3 0,-44 11 0,152-17 0,-126 13 0,-1 2 0,67 5 0,46-3 0,-122-4 0,68-17 0,-75 14 0,0 1 0,71-4 0,-94 12 0,16 0 0,1-2 0,-1-1 0,39-8 0,-49 7 0,39-3 0,-40 6 0,-1-1 0,34-8 0,-1-4 0,0 3 0,1 2 0,0 2 0,91 1 0,1392 9 172,-824-5-1709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14:39:59.8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1 116 24503,'3924'-116'0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899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3.xml"/><Relationship Id="rId5" Type="http://schemas.openxmlformats.org/officeDocument/2006/relationships/image" Target="../media/image6.png"/><Relationship Id="rId4" Type="http://schemas.openxmlformats.org/officeDocument/2006/relationships/customXml" Target="../ink/ink2.xm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6.xml"/><Relationship Id="rId5" Type="http://schemas.openxmlformats.org/officeDocument/2006/relationships/image" Target="../media/image11.png"/><Relationship Id="rId4" Type="http://schemas.openxmlformats.org/officeDocument/2006/relationships/customXml" Target="../ink/ink5.xml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customXml" Target="../ink/ink9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11.xml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0" Type="http://schemas.openxmlformats.org/officeDocument/2006/relationships/customXml" Target="../ink/ink13.xml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5" Type="http://schemas.openxmlformats.org/officeDocument/2006/relationships/customXml" Target="../ink/ink15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300918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Traffic Flow Optimization Using Machine Learning (LSTM &amp; XGBoost)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76690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Predicting traffic congestion levels in Bengaluru city using real-time traffic parameters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84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703546"/>
            <a:ext cx="78372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Traffic Congestion Prediction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97930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Aim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63140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predict traffic congestion levels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 Bengaluru city using real-time traffic parameters.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8402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Built two models: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93790" y="523613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LSTM (Long Short Term Memory)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temporal sequence analysis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04123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XGBoost (Extreme Gradient Boost)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tabular data with engineered features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97930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Purpose: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363140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Help city planners &amp; commuters predict congestion ahead of time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436507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Enable dynamic traffic signal control and route optimization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38912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Outcome: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7599521" y="604123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Achieved </a:t>
            </a:r>
            <a:r>
              <a:rPr lang="en-US" sz="1750" b="1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prediction accuracy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actionable insights into congestion patterns.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7D3806C-FEA2-35B6-231C-954749DA4922}"/>
                  </a:ext>
                </a:extLst>
              </p14:cNvPr>
              <p14:cNvContentPartPr/>
              <p14:nvPr/>
            </p14:nvContentPartPr>
            <p14:xfrm>
              <a:off x="12936485" y="7823635"/>
              <a:ext cx="1485000" cy="292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7D3806C-FEA2-35B6-231C-954749DA49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73845" y="7760995"/>
                <a:ext cx="1610640" cy="41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466" y="532328"/>
            <a:ext cx="8019217" cy="604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Bengaluru Traffic Dataset Overview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7466" y="1621036"/>
            <a:ext cx="29036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Source &amp; Scale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77466" y="2177415"/>
            <a:ext cx="7088981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Source:</a:t>
            </a: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Publicly available dataset of traffic data from Bengaluru roads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77466" y="2554843"/>
            <a:ext cx="7088981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Records:</a:t>
            </a: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~9,000 samples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77466" y="3058001"/>
            <a:ext cx="29036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Features: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77466" y="3614380"/>
            <a:ext cx="7088981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Date &amp; Time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7466" y="3991808"/>
            <a:ext cx="7088981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Average Speed (km/h)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7466" y="4369237"/>
            <a:ext cx="7088981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Traffic Volume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7466" y="4746665"/>
            <a:ext cx="7088981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Congestion Level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7466" y="5124093"/>
            <a:ext cx="7088981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Travel Time Index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7466" y="5501521"/>
            <a:ext cx="7088981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Road Capacity Utilization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7466" y="5878949"/>
            <a:ext cx="7088981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Incident Reports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7466" y="6256377"/>
            <a:ext cx="7088981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Weather Conditions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46269" y="1621036"/>
            <a:ext cx="29059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Preprocessing Steps: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246269" y="2177415"/>
            <a:ext cx="5714167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Handled missing values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46269" y="2554843"/>
            <a:ext cx="5714167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Extracted time-based features (hour, day, month, etc.)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46269" y="2932271"/>
            <a:ext cx="5714167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Encoded categorical features (Weather)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46269" y="3309699"/>
            <a:ext cx="5714167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Created lag &amp; rolling features for trend detection</a:t>
            </a:r>
            <a:endParaRPr lang="en-US" sz="15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6269" y="3837146"/>
            <a:ext cx="5714167" cy="39096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A9B3AA6-02BE-B2CB-C3F5-0712B84BE65B}"/>
                  </a:ext>
                </a:extLst>
              </p14:cNvPr>
              <p14:cNvContentPartPr/>
              <p14:nvPr/>
            </p14:nvContentPartPr>
            <p14:xfrm>
              <a:off x="12894725" y="7825075"/>
              <a:ext cx="1519200" cy="1854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A9B3AA6-02BE-B2CB-C3F5-0712B84BE6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31725" y="7762435"/>
                <a:ext cx="164484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69C79D3-4542-A04C-E18B-EE41E269D15D}"/>
                  </a:ext>
                </a:extLst>
              </p14:cNvPr>
              <p14:cNvContentPartPr/>
              <p14:nvPr/>
            </p14:nvContentPartPr>
            <p14:xfrm>
              <a:off x="12998765" y="7996795"/>
              <a:ext cx="1461600" cy="360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69C79D3-4542-A04C-E18B-EE41E269D1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936125" y="7933795"/>
                <a:ext cx="158724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DBB3DAF-AE88-01CA-3523-1BF8205CB5BE}"/>
                  </a:ext>
                </a:extLst>
              </p14:cNvPr>
              <p14:cNvContentPartPr/>
              <p14:nvPr/>
            </p14:nvContentPartPr>
            <p14:xfrm>
              <a:off x="12905165" y="7781875"/>
              <a:ext cx="1258200" cy="324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DBB3DAF-AE88-01CA-3523-1BF8205CB5B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842525" y="7718875"/>
                <a:ext cx="1383840" cy="158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0"/>
            <a:ext cx="658368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6638" y="694373"/>
            <a:ext cx="6593443" cy="1297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About LSTM (Long Short-Term Memory Networks)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726638" y="2303502"/>
            <a:ext cx="659344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LSTM</a:t>
            </a: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is a type of Recurrent Neural Network (RNN) specialized for </a:t>
            </a:r>
            <a:r>
              <a:rPr lang="en-US" sz="16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sequential time-series data</a:t>
            </a: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6638" y="3279219"/>
            <a:ext cx="3114437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LSTM?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26638" y="3979902"/>
            <a:ext cx="659344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Captures temporal dependencies (previous traffic states affect future states).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6638" y="4716899"/>
            <a:ext cx="659344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Handles long-term patterns like peak-hour trends.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6638" y="5121712"/>
            <a:ext cx="6593443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Works well when congestion depends on time-based events (rush hours, weekends).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26638" y="6097429"/>
            <a:ext cx="3114437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Structure: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726638" y="6798112"/>
            <a:ext cx="659344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Input layer → LSTM layers → Dense output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6638" y="7202924"/>
            <a:ext cx="6593443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Uses memory cells to remember long-term dependencies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7575" y="469582"/>
            <a:ext cx="8938498" cy="533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LSTM Model Implementation &amp; Performance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597575" y="1344692"/>
            <a:ext cx="170736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75" y="1611868"/>
            <a:ext cx="4364593" cy="22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7575" y="1742956"/>
            <a:ext cx="2134433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Preparation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97575" y="2112169"/>
            <a:ext cx="4364593" cy="546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scaled and reshaped to 3D (samples × timesteps × features).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132903" y="1344692"/>
            <a:ext cx="170736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903" y="1627346"/>
            <a:ext cx="4364593" cy="228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32903" y="1742956"/>
            <a:ext cx="2134433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 Architecture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5132903" y="2112169"/>
            <a:ext cx="4364593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 built with 2 LSTM layers + Dense output.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9668232" y="1344692"/>
            <a:ext cx="170736" cy="21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232" y="1627346"/>
            <a:ext cx="4364593" cy="228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68232" y="1742956"/>
            <a:ext cx="2134433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Training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9668232" y="2112169"/>
            <a:ext cx="4364593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Trained using Adam optimizer and MSE loss.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97575" y="3042523"/>
            <a:ext cx="3415189" cy="426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Results:</a:t>
            </a:r>
            <a:endParaRPr lang="en-US" sz="2650" dirty="0"/>
          </a:p>
        </p:txBody>
      </p:sp>
      <p:sp>
        <p:nvSpPr>
          <p:cNvPr id="16" name="Text 11"/>
          <p:cNvSpPr/>
          <p:nvPr/>
        </p:nvSpPr>
        <p:spPr>
          <a:xfrm>
            <a:off x="597575" y="3810833"/>
            <a:ext cx="3198733" cy="563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0.0153</a:t>
            </a:r>
            <a:endParaRPr lang="en-US" sz="4400" dirty="0"/>
          </a:p>
        </p:txBody>
      </p:sp>
      <p:sp>
        <p:nvSpPr>
          <p:cNvPr id="17" name="Text 12"/>
          <p:cNvSpPr/>
          <p:nvPr/>
        </p:nvSpPr>
        <p:spPr>
          <a:xfrm>
            <a:off x="1129665" y="4587597"/>
            <a:ext cx="2134433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MSE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4009668" y="3810833"/>
            <a:ext cx="3198852" cy="563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0.1238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4541877" y="4587597"/>
            <a:ext cx="2134433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RMSE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7421880" y="3810833"/>
            <a:ext cx="3198733" cy="563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0.1041</a:t>
            </a:r>
            <a:endParaRPr lang="en-US" sz="4400" dirty="0"/>
          </a:p>
        </p:txBody>
      </p:sp>
      <p:sp>
        <p:nvSpPr>
          <p:cNvPr id="21" name="Text 16"/>
          <p:cNvSpPr/>
          <p:nvPr/>
        </p:nvSpPr>
        <p:spPr>
          <a:xfrm>
            <a:off x="7953970" y="4587597"/>
            <a:ext cx="2134433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MAE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10833973" y="3810833"/>
            <a:ext cx="3198852" cy="563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7.85%</a:t>
            </a:r>
            <a:endParaRPr lang="en-US" sz="4400" dirty="0"/>
          </a:p>
        </p:txBody>
      </p:sp>
      <p:sp>
        <p:nvSpPr>
          <p:cNvPr id="23" name="Text 18"/>
          <p:cNvSpPr/>
          <p:nvPr/>
        </p:nvSpPr>
        <p:spPr>
          <a:xfrm>
            <a:off x="11366183" y="4587597"/>
            <a:ext cx="2134433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MAPE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5715714" y="5281255"/>
            <a:ext cx="3198852" cy="563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44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-0.0006</a:t>
            </a:r>
            <a:endParaRPr lang="en-US" sz="4400" dirty="0"/>
          </a:p>
        </p:txBody>
      </p:sp>
      <p:sp>
        <p:nvSpPr>
          <p:cNvPr id="25" name="Text 20"/>
          <p:cNvSpPr/>
          <p:nvPr/>
        </p:nvSpPr>
        <p:spPr>
          <a:xfrm>
            <a:off x="6247924" y="6058019"/>
            <a:ext cx="2134433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R²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597575" y="6580942"/>
            <a:ext cx="2561392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Inference: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597575" y="7157085"/>
            <a:ext cx="13435251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 learned short-term patterns well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97575" y="7489865"/>
            <a:ext cx="13435251" cy="273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However, struggled to generalize (negative R²) → possible underfitting or scaling issue</a:t>
            </a:r>
            <a:endParaRPr lang="en-US" sz="13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2C08CB7-EA21-8A88-F5B4-1510A22A4316}"/>
                  </a:ext>
                </a:extLst>
              </p14:cNvPr>
              <p14:cNvContentPartPr/>
              <p14:nvPr/>
            </p14:nvContentPartPr>
            <p14:xfrm>
              <a:off x="12863765" y="7875475"/>
              <a:ext cx="1580400" cy="115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2C08CB7-EA21-8A88-F5B4-1510A22A43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01125" y="7812475"/>
                <a:ext cx="170604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69F9FD0-8792-B18F-2019-5BDB32611EB6}"/>
                  </a:ext>
                </a:extLst>
              </p14:cNvPr>
              <p14:cNvContentPartPr/>
              <p14:nvPr/>
            </p14:nvContentPartPr>
            <p14:xfrm>
              <a:off x="12884645" y="8052955"/>
              <a:ext cx="1498320" cy="7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69F9FD0-8792-B18F-2019-5BDB32611EB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21645" y="7926955"/>
                <a:ext cx="162396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37A54A7-31DA-25CC-5D70-B79EC775B626}"/>
                  </a:ext>
                </a:extLst>
              </p14:cNvPr>
              <p14:cNvContentPartPr/>
              <p14:nvPr/>
            </p14:nvContentPartPr>
            <p14:xfrm>
              <a:off x="13590965" y="7947835"/>
              <a:ext cx="832320" cy="223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37A54A7-31DA-25CC-5D70-B79EC775B6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528325" y="7885195"/>
                <a:ext cx="957960" cy="14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102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XGBoost: Gradient Boosting for Tabular Prediction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72207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XGBoost</a:t>
            </a: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stands for </a:t>
            </a:r>
            <a:r>
              <a:rPr lang="en-US" sz="2200" i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Extreme Gradient Boosting</a:t>
            </a:r>
            <a:r>
              <a:rPr lang="en-US" sz="2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0768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XGBoost?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95978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Handles non-linear relationships effectively.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40198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Robust to missing values &amp; outliers.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8441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Uses </a:t>
            </a: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 importance</a:t>
            </a: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explainability.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28638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Faster training compared to deep learning.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30768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Engineering: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495978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Added lag &amp; rolling mean features (traffic trends).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40198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 features (hour, day, month, weekend).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8441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Encoded weather and incidents.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D4DE1A9-CC2C-0B9C-AC27-B6AFE4AAD886}"/>
                  </a:ext>
                </a:extLst>
              </p14:cNvPr>
              <p14:cNvContentPartPr/>
              <p14:nvPr/>
            </p14:nvContentPartPr>
            <p14:xfrm>
              <a:off x="12946925" y="7854595"/>
              <a:ext cx="1476360" cy="2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D4DE1A9-CC2C-0B9C-AC27-B6AFE4AAD8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83925" y="7791955"/>
                <a:ext cx="16020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989A9B2-42CB-CCAF-B7AF-4650BCD6FE0D}"/>
                  </a:ext>
                </a:extLst>
              </p14:cNvPr>
              <p14:cNvContentPartPr/>
              <p14:nvPr/>
            </p14:nvContentPartPr>
            <p14:xfrm>
              <a:off x="12842885" y="7979515"/>
              <a:ext cx="1580400" cy="320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989A9B2-42CB-CCAF-B7AF-4650BCD6FE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79885" y="7916515"/>
                <a:ext cx="170604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784C06C-9E6D-8C3E-A1E8-F9C501A04CB0}"/>
                  </a:ext>
                </a:extLst>
              </p14:cNvPr>
              <p14:cNvContentPartPr/>
              <p14:nvPr/>
            </p14:nvContentPartPr>
            <p14:xfrm>
              <a:off x="13238165" y="8019115"/>
              <a:ext cx="1175040" cy="65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784C06C-9E6D-8C3E-A1E8-F9C501A04CB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175165" y="7956475"/>
                <a:ext cx="1300680" cy="191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370" y="530304"/>
            <a:ext cx="10986016" cy="602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XGBoost Implementation &amp; Comparative Results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1517690"/>
            <a:ext cx="4427220" cy="7706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7013" y="2481024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67013" y="2897624"/>
            <a:ext cx="404193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Used engineered tabular features.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1590" y="1517690"/>
            <a:ext cx="4427220" cy="7706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94233" y="2481024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Training Setup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294233" y="2897624"/>
            <a:ext cx="4041934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Trained with 500 boosting rounds, early stopping, and RMSE evaluation.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810" y="1517690"/>
            <a:ext cx="4427220" cy="7706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21453" y="2481024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Implementation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721453" y="2897624"/>
            <a:ext cx="4041934" cy="308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Used xgb.train() for advanced control.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74370" y="3995499"/>
            <a:ext cx="3853696" cy="4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Results:</a:t>
            </a:r>
            <a:endParaRPr lang="en-US" sz="3000" dirty="0"/>
          </a:p>
        </p:txBody>
      </p:sp>
      <p:sp>
        <p:nvSpPr>
          <p:cNvPr id="13" name="Text 8"/>
          <p:cNvSpPr/>
          <p:nvPr/>
        </p:nvSpPr>
        <p:spPr>
          <a:xfrm>
            <a:off x="674370" y="4862512"/>
            <a:ext cx="3139797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0.2760</a:t>
            </a:r>
            <a:endParaRPr lang="en-US" sz="5000" dirty="0"/>
          </a:p>
        </p:txBody>
      </p:sp>
      <p:sp>
        <p:nvSpPr>
          <p:cNvPr id="14" name="Text 9"/>
          <p:cNvSpPr/>
          <p:nvPr/>
        </p:nvSpPr>
        <p:spPr>
          <a:xfrm>
            <a:off x="1040011" y="5739051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MSE</a:t>
            </a:r>
            <a:endParaRPr lang="en-US" sz="1850" dirty="0"/>
          </a:p>
        </p:txBody>
      </p:sp>
      <p:sp>
        <p:nvSpPr>
          <p:cNvPr id="15" name="Text 10"/>
          <p:cNvSpPr/>
          <p:nvPr/>
        </p:nvSpPr>
        <p:spPr>
          <a:xfrm>
            <a:off x="4054912" y="4862512"/>
            <a:ext cx="3139916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0.5254</a:t>
            </a:r>
            <a:endParaRPr lang="en-US" sz="5000" dirty="0"/>
          </a:p>
        </p:txBody>
      </p:sp>
      <p:sp>
        <p:nvSpPr>
          <p:cNvPr id="16" name="Text 11"/>
          <p:cNvSpPr/>
          <p:nvPr/>
        </p:nvSpPr>
        <p:spPr>
          <a:xfrm>
            <a:off x="4420553" y="5739051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RMSE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7435572" y="4862512"/>
            <a:ext cx="3139797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0.2621</a:t>
            </a:r>
            <a:endParaRPr lang="en-US" sz="5000" dirty="0"/>
          </a:p>
        </p:txBody>
      </p:sp>
      <p:sp>
        <p:nvSpPr>
          <p:cNvPr id="18" name="Text 13"/>
          <p:cNvSpPr/>
          <p:nvPr/>
        </p:nvSpPr>
        <p:spPr>
          <a:xfrm>
            <a:off x="7801213" y="5739051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MAE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10816114" y="4862512"/>
            <a:ext cx="3139916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0.50%</a:t>
            </a:r>
            <a:endParaRPr lang="en-US" sz="5000" dirty="0"/>
          </a:p>
        </p:txBody>
      </p:sp>
      <p:sp>
        <p:nvSpPr>
          <p:cNvPr id="20" name="Text 15"/>
          <p:cNvSpPr/>
          <p:nvPr/>
        </p:nvSpPr>
        <p:spPr>
          <a:xfrm>
            <a:off x="11181755" y="5739051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MAPE</a:t>
            </a:r>
            <a:endParaRPr lang="en-US" sz="1850" dirty="0"/>
          </a:p>
        </p:txBody>
      </p:sp>
      <p:sp>
        <p:nvSpPr>
          <p:cNvPr id="21" name="Text 16"/>
          <p:cNvSpPr/>
          <p:nvPr/>
        </p:nvSpPr>
        <p:spPr>
          <a:xfrm>
            <a:off x="5745242" y="6521648"/>
            <a:ext cx="3139797" cy="635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0.9995</a:t>
            </a:r>
            <a:endParaRPr lang="en-US" sz="5000" dirty="0"/>
          </a:p>
        </p:txBody>
      </p:sp>
      <p:sp>
        <p:nvSpPr>
          <p:cNvPr id="22" name="Text 17"/>
          <p:cNvSpPr/>
          <p:nvPr/>
        </p:nvSpPr>
        <p:spPr>
          <a:xfrm>
            <a:off x="6110883" y="7398187"/>
            <a:ext cx="2408515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R² </a:t>
            </a:r>
            <a:endParaRPr lang="en-US" sz="18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3F00F84-506C-4415-F6B3-6A2850C32C6D}"/>
                  </a:ext>
                </a:extLst>
              </p14:cNvPr>
              <p14:cNvContentPartPr/>
              <p14:nvPr/>
            </p14:nvContentPartPr>
            <p14:xfrm>
              <a:off x="12915965" y="7896715"/>
              <a:ext cx="153828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3F00F84-506C-4415-F6B3-6A2850C32C6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853325" y="7834075"/>
                <a:ext cx="16639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C20E996-7FF5-AA13-CB94-781C87767255}"/>
                  </a:ext>
                </a:extLst>
              </p14:cNvPr>
              <p14:cNvContentPartPr/>
              <p14:nvPr/>
            </p14:nvContentPartPr>
            <p14:xfrm>
              <a:off x="12884645" y="8021275"/>
              <a:ext cx="149688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C20E996-7FF5-AA13-CB94-781C8776725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821645" y="7958635"/>
                <a:ext cx="16225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BBC82F68-28CA-6704-FC5D-9FA80C51F964}"/>
                  </a:ext>
                </a:extLst>
              </p14:cNvPr>
              <p14:cNvContentPartPr/>
              <p14:nvPr/>
            </p14:nvContentPartPr>
            <p14:xfrm>
              <a:off x="14349845" y="7823995"/>
              <a:ext cx="106200" cy="2502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BBC82F68-28CA-6704-FC5D-9FA80C51F96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287205" y="7761355"/>
                <a:ext cx="231840" cy="375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154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Inference: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8204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Excellent generalization and near-perfect fit.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2626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Outperformed LSTM in proportional accuracy and R².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27048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Indicates XGBoost captures engineered temporal features better.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436296"/>
            <a:ext cx="13042821" cy="35957"/>
          </a:xfrm>
          <a:prstGeom prst="rect">
            <a:avLst/>
          </a:prstGeom>
          <a:solidFill>
            <a:srgbClr val="5B5F71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3812381"/>
            <a:ext cx="624947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 and Future Scope</a:t>
            </a:r>
            <a:endParaRPr lang="en-US" sz="3550" dirty="0"/>
          </a:p>
        </p:txBody>
      </p:sp>
      <p:sp>
        <p:nvSpPr>
          <p:cNvPr id="8" name="Text 6"/>
          <p:cNvSpPr/>
          <p:nvPr/>
        </p:nvSpPr>
        <p:spPr>
          <a:xfrm>
            <a:off x="793790" y="494633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Conclusion: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93790" y="559843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XGBoost performed better in accuracy and interpretability.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40353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LSTM performance could improve with scaling &amp; tuning.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94633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Work: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7599521" y="559843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Combine both models (Hybrid Ensemble).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604063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Integrate with real-time data for live congestion dashboards.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68457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Deploy using Streamlit or Flask web interface.</a:t>
            </a:r>
            <a:endParaRPr lang="en-US" sz="175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D23ED07-DCC9-A983-3F57-61D003CE54BD}"/>
                  </a:ext>
                </a:extLst>
              </p14:cNvPr>
              <p14:cNvContentPartPr/>
              <p14:nvPr/>
            </p14:nvContentPartPr>
            <p14:xfrm>
              <a:off x="12863765" y="7844515"/>
              <a:ext cx="1611000" cy="216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D23ED07-DCC9-A983-3F57-61D003CE54B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01125" y="7781515"/>
                <a:ext cx="17366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E157382-7EC0-7823-F14D-6171E77D7ECB}"/>
                  </a:ext>
                </a:extLst>
              </p14:cNvPr>
              <p14:cNvContentPartPr/>
              <p14:nvPr/>
            </p14:nvContentPartPr>
            <p14:xfrm>
              <a:off x="12915965" y="7948555"/>
              <a:ext cx="1476000" cy="73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E157382-7EC0-7823-F14D-6171E77D7E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53325" y="7885555"/>
                <a:ext cx="160164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3865244-F617-FBED-30AD-6875EE774EA7}"/>
                  </a:ext>
                </a:extLst>
              </p14:cNvPr>
              <p14:cNvContentPartPr/>
              <p14:nvPr/>
            </p14:nvContentPartPr>
            <p14:xfrm>
              <a:off x="13102805" y="7990315"/>
              <a:ext cx="1413360" cy="421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3865244-F617-FBED-30AD-6875EE774E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040165" y="7927315"/>
                <a:ext cx="1539000" cy="16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543</Words>
  <Application>Microsoft Office PowerPoint</Application>
  <PresentationFormat>Custom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Instrument Sans Medium</vt:lpstr>
      <vt:lpstr>Instrument Sans Semi Bold</vt:lpstr>
      <vt:lpstr>Instrument Sans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Devashish Rawat</cp:lastModifiedBy>
  <cp:revision>2</cp:revision>
  <dcterms:created xsi:type="dcterms:W3CDTF">2025-10-29T14:37:53Z</dcterms:created>
  <dcterms:modified xsi:type="dcterms:W3CDTF">2025-10-29T14:40:16Z</dcterms:modified>
</cp:coreProperties>
</file>