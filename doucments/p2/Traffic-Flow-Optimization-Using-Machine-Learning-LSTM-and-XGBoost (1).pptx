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ink/ink1.xml" ContentType="application/inkml+xml"/>
  <Override PartName="/ppt/notesSlides/notesSlide3.xml" ContentType="application/vnd.openxmlformats-officedocument.presentationml.notesSlide+xml"/>
  <Override PartName="/ppt/ink/ink2.xml" ContentType="application/inkml+xml"/>
  <Override PartName="/ppt/ink/ink3.xml" ContentType="application/inkml+xml"/>
  <Override PartName="/ppt/ink/ink4.xml" ContentType="application/inkml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ink/ink5.xml" ContentType="application/inkml+xml"/>
  <Override PartName="/ppt/ink/ink6.xml" ContentType="application/inkml+xml"/>
  <Override PartName="/ppt/ink/ink7.xml" ContentType="application/inkml+xml"/>
  <Override PartName="/ppt/notesSlides/notesSlide6.xml" ContentType="application/vnd.openxmlformats-officedocument.presentationml.notesSlide+xml"/>
  <Override PartName="/ppt/ink/ink8.xml" ContentType="application/inkml+xml"/>
  <Override PartName="/ppt/ink/ink9.xml" ContentType="application/inkml+xml"/>
  <Override PartName="/ppt/ink/ink10.xml" ContentType="application/inkml+xml"/>
  <Override PartName="/ppt/notesSlides/notesSlide7.xml" ContentType="application/vnd.openxmlformats-officedocument.presentationml.notesSlide+xml"/>
  <Override PartName="/ppt/ink/ink11.xml" ContentType="application/inkml+xml"/>
  <Override PartName="/ppt/ink/ink12.xml" ContentType="application/inkml+xml"/>
  <Override PartName="/ppt/ink/ink13.xml" ContentType="application/inkml+xml"/>
  <Override PartName="/ppt/notesSlides/notesSlide8.xml" ContentType="application/vnd.openxmlformats-officedocument.presentationml.notesSlide+xml"/>
  <Override PartName="/ppt/ink/ink14.xml" ContentType="application/inkml+xml"/>
  <Override PartName="/ppt/ink/ink15.xml" ContentType="application/inkml+xml"/>
  <Override PartName="/ppt/ink/ink16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4630400" cy="8229600"/>
  <p:notesSz cx="8229600" cy="14630400"/>
  <p:embeddedFontLst>
    <p:embeddedFont>
      <p:font typeface="Instrument Sans Medium" panose="020B0604020202020204" charset="0"/>
      <p:regular r:id="rId11"/>
    </p:embeddedFont>
    <p:embeddedFont>
      <p:font typeface="Instrument Sans Semi Bold" panose="020B0604020202020204" charset="0"/>
      <p:regular r:id="rId12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40" d="100"/>
          <a:sy n="40" d="100"/>
        </p:scale>
        <p:origin x="34" y="94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font" Target="fonts/font2.fntdata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1.fntdata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9T14:39:06.950"/>
    </inkml:context>
    <inkml:brush xml:id="br0">
      <inkml:brushProperty name="width" value="0.35" units="cm"/>
      <inkml:brushProperty name="height" value="0.35" units="cm"/>
      <inkml:brushProperty name="color" value="#FFFFFF"/>
    </inkml:brush>
  </inkml:definitions>
  <inkml:trace contextRef="#ctx0" brushRef="#br0">1 377 24575,'24'-2'0,"1"-2"0,-1 0 0,0-1 0,0-2 0,0 0 0,-1-2 0,43-21 0,29-15 0,2 5 0,1 4 0,149-33 0,-163 50 0,1 3 0,1 5 0,161-2 0,-235 13 0,44 2 0,-55-2 0,1 0 0,-1 0 0,1 1 0,-1-1 0,1 0 0,-1 1 0,0-1 0,1 1 0,-1-1 0,1 1 0,-1-1 0,0 1 0,0 0 0,1 0 0,-1 0 0,0 0 0,0 0 0,0 0 0,0 0 0,0 0 0,0 0 0,0 0 0,0 1 0,-1-1 0,1 0 0,0 1 0,-1-1 0,1 0 0,0 3 0,-1-2 0,-1-1 0,1 0 0,-1 1 0,1-1 0,-1 1 0,1-1 0,-1 0 0,0 1 0,0-1 0,1 0 0,-1 0 0,0 0 0,0 0 0,0 1 0,0-1 0,-1-1 0,1 1 0,0 0 0,-2 1 0,-30 18 0,21-14 0,0 1 0,0-2 0,0 1 0,-1-2 0,1 0 0,-1 0 0,0-1 0,0-1 0,-22 2 0,-12-2 0,-53-5 0,20 0 0,-296 3 0,346 2 0,-1 1 0,1 2 0,-54 15 0,53-11 0,-1-2 0,1-1 0,-45 2 0,40-9 0,26 0 0,-1 0 0,1 1 0,-1 1 0,-10 1 0,21-2 0,0 0 0,0 0 0,0 0 0,-1 0 0,1 0 0,0 0 0,0 0 0,0 0 0,0 0 0,0 0 0,0 0 0,0 0 0,0 0 0,0 0 0,0 0 0,-1 0 0,1 0 0,0 0 0,0 0 0,0 0 0,0 0 0,0 0 0,0 0 0,0 1 0,0-1 0,0 0 0,0 0 0,0 0 0,0 0 0,0 0 0,-1 0 0,1 0 0,0 0 0,0 0 0,0 0 0,0 0 0,0 0 0,0 1 0,0-1 0,0 0 0,0 0 0,0 0 0,0 0 0,0 0 0,0 0 0,0 0 0,0 0 0,0 0 0,0 0 0,0 1 0,0-1 0,0 0 0,0 0 0,0 0 0,0 0 0,0 0 0,0 0 0,1 0 0,-1 0 0,0 0 0,0 0 0,0 0 0,0 0 0,0 1 0,9 4 0,13 2 0,41 1 0,0-2 0,125-6 0,-84-2 0,2581 1-4499,-2650 12 6662,-46 1-1171,3-7-913,0-1 0,-1 0 0,1 0 0,-1-1-1,0 0 1,0 0 0,0-1 0,0 0 0,-12 1 0,-90 1 455,89-4-513,-1621-2-21,1647 2 0,81 1 0,1-4 0,142-23 0,-125 5 0,1 4 0,192-5 0,103 24 0,-360-7 0,-39 5 0,1 0 0,0 0 0,-1-1 0,1 1 0,-1 0 0,1 0 0,-1-1 0,1 1 0,0 0 0,-1-1 0,0 1 0,1 0 0,-1-1 0,1 1 0,-1-1 0,1 1 0,-1-1 0,0 1 0,1-1 0,-1 1 0,1-2 0,-1 1 0,0 0 0,-1 0 0,1 0 0,0 1 0,0-1 0,-1 0 0,1 0 0,0 0 0,-1 0 0,1 1 0,-1-1 0,1 0 0,-1 0 0,1 1 0,-1-1 0,0 0 0,1 1 0,-1-1 0,0 1 0,-1-2 0,-11-7 0,0 0 0,-1 0 0,0 1 0,-1 1 0,0 1 0,0 0 0,0 1 0,-29-6 0,8 4 0,0 2 0,-67-1 0,-433 9 0,863-3 0,-1314 0-853,923 3 730,-1 4-1,1 2 1,-81 23-1,50-10 53,-123 20 1391,201-36-1222,13 1-73,5-6-27,1 0 1,-1 0 0,0 0-1,0 0 1,0 0 0,0 0-1,1-1 1,-1 1 0,0-1-1,1 1 1,-1 0-1,0-1 1,1 0 0,-1 1-1,1-1 1,-1 0 0,3 0-1,78 7 2,144-6 0,-104-4 0,2523 3 0,-3999 0-4178,1343 0 4207,-1 0 0,1-1 0,-22-5 1,31 6 8,1 0 1,0-1 0,-1 1 0,1 0 0,0-1 0,-1 0 0,1 1-1,0-1 1,0 0 0,0 1 0,0-1 0,0 0 0,0 0 0,0 0-1,0 0 1,0 0 0,0 0 0,0-2 0,0 2 13,1-1 1,0 1 0,0 0-1,0-1 1,0 1-1,1 0 1,-1 0-1,0-1 1,0 1-1,1 0 1,-1-1 0,1 1-1,-1 0 1,1 0-1,0 0 1,-1 0-1,1 0 1,0-1-1,0 1 1,0 0 0,-1 1-1,1-1 1,2-1-1,6-5 149,0 1 0,0 0 1,0 0-1,1 1 0,0 1 0,0 0 0,0 0 0,19-4 0,10-4 51,185-53-252,-187 56 0,15-5 0,-22 6 0,0 0 0,1 2 0,0 1 0,33-1 0,-10 4 0,70-11 0,-42 5 0,109 5 0,-154 3 0,-712 0 0,669 0 0,2-1 0,1 1 0,-1 0 0,1 0 0,-1 0 0,1 0 0,-1 1 0,1-1 0,-1 1 0,1 0 0,0 0 0,-1 0 0,1 1 0,0-1 0,-4 3 0,7-4 0,0 0 0,0 0 0,0 1 0,-1-1 0,1 0 0,0 0 0,0 0 0,0 0 0,0 0 0,0 0 0,0 1 0,0-1 0,0 0 0,0 0 0,0 0 0,0 0 0,0 1 0,0-1 0,0 0 0,0 0 0,0 0 0,0 0 0,0 1 0,0-1 0,0 0 0,0 0 0,0 0 0,0 0 0,0 0 0,0 1 0,0-1 0,0 0 0,0 0 0,1 0 0,-1 0 0,0 0 0,0 0 0,0 1 0,0-1 0,0 0 0,0 0 0,1 0 0,-1 0 0,0 0 0,0 0 0,12 5 0,11-1 0,309 1 0,-185-8 0,706 3 0,-843 0 0,-1 1 0,0-1 0,1 1 0,-1 1 0,0 0 0,0 0 0,0 1 0,15 6 0,-21-7 0,-1-1 0,1 1 0,-1-1 0,1 1 0,-1 0 0,0 0 0,0 0 0,1 0 0,-2 1 0,1-1 0,0 0 0,0 1 0,-1 0 0,1-1 0,-1 1 0,0 0 0,0-1 0,0 1 0,0 0 0,0 0 0,-1 0 0,1 0 0,-1 0 0,0 0 0,0 0 0,0 0 0,0 0 0,-1 0 0,1 0 0,-2 4 0,-5 15 0,-1 0 0,-1-1 0,-1-1 0,0 1 0,-2-2 0,-15 21 0,-6 13 0,19-30 0,4-5 0,-1 0 0,-1 0 0,-16 17 0,24-31 0,-1 0 0,1-1 0,-1 0 0,0 1 0,0-2 0,0 1 0,-1-1 0,1 0 0,-1 0 0,1 0 0,-1-1 0,0 0 0,-10 1 0,-10 0 0,-45-4 0,47 1 0,-1-1 0,41 1 0,38 1 0,-11-1 0,0-2 0,55-11 0,-60 9 0,-1 1 0,50 1 0,-915 4 0,806 0 0,0 2 0,-38 8 0,37-6 0,-1-1 0,-27 1 0,-520-3 0,276-4 0,-1755 2 0,2045 0 0,0 0 0,0-1 0,-1 1 0,1-1 0,0 0 0,0-1 0,0 1 0,0-1 0,0 0 0,0 0 0,-5-4 0,9 5 0,-1 0 0,1 0 0,0 0 0,-1-1 0,1 1 0,0 0 0,0-1 0,0 1 0,0-1 0,0 1 0,1-1 0,-1 1 0,0-1 0,1 0 0,-1 0 0,1 1 0,-1-1 0,1 0 0,0 1 0,0-1 0,0 0 0,0 0 0,0 0 0,0 1 0,0-1 0,1 0 0,-1 0 0,1 1 0,-1-1 0,1 0 0,0 1 0,-1-1 0,1 1 0,0-1 0,0 1 0,3-3 0,8-14 0,1 1 0,1 1 0,1 0 0,17-14 0,2-3 0,-30 29 0,13-14 0,2 0 0,26-19 0,-38 32 0,0 1 0,0 0 0,1 0 0,-1 0 0,1 1 0,0 0 0,0 1 0,0 0 0,0 0 0,17-1 0,154 3 0,-69 3 0,-89-2 0,-1 0 0,1 2 0,-1 0 0,1 2 0,-1 0 0,-1 1 0,21 9 0,15 10 0,54 35 0,-42-22 0,-63-36 0,0 0 0,1 1 0,-1 0 0,0 0 0,0 0 0,-1 0 0,1 1 0,-1-1 0,1 1 0,-1 0 0,0 0 0,-1 0 0,1 1 0,-1-1 0,0 0 0,0 1 0,0 0 0,0-1 0,-1 1 0,0 0 0,1 10 0,-2-10 0,0 0 0,-1 0 0,1 0 0,-1 0 0,0-1 0,-1 1 0,1 0 0,-1 0 0,0-1 0,-1 1 0,1-1 0,-1 0 0,1 1 0,-1-1 0,0 0 0,-1-1 0,1 1 0,-1-1 0,0 1 0,0-1 0,-8 5 0,-4 0 0,-1 0 0,-1-1 0,1-1 0,-1-1 0,0 0 0,0-1 0,-1-1 0,-31 1 0,-33 0 0,-124-9 0,118-9 0,59 8 0,-53-4 0,19 10 0,46 2 0,1-2 0,-1 0 0,0-1 0,1 0 0,-1-2 0,1 0 0,0-1 0,0-1 0,-22-8 0,25 5 0,1 3 0,1-1 0,1-1 0,-14-9 0,25 16 0,0 0 0,0-1 0,-1 1 0,1 0 0,0 0 0,-1 0 0,1 0 0,0-1 0,0 1 0,0 0 0,-1 0 0,1 0 0,0-1 0,0 1 0,0 0 0,-1-1 0,1 1 0,0 0 0,0 0 0,0-1 0,0 1 0,0 0 0,0-1 0,0 1 0,0 0 0,0-1 0,0 1 0,0 0 0,0 0 0,0-1 0,0 1 0,0 0 0,0-1 0,0 1 0,0 0 0,0-1 0,13-4 0,21 2 0,-32 3 0,562 1 0,-215 1 0,-231-4 0,128 5 0,-197 3 0,54 15 0,-55-10 0,61 6 0,231-13 0,-183-7 0,766 3 0,-894-1 0,0-2 0,33-7 0,-31 4 0,49-3 0,298 8 0,-178 3 0,-196-2 0,0 0 0,0 0 0,1 0 0,-1 0 0,0-1 0,0 1 0,0-1 0,8-2 0,-12 3 0,0-1 0,0 1 0,0 0 0,0 0 0,0 0 0,0 0 0,1 0 0,-1 0 0,0 0 0,0 0 0,0 0 0,0 0 0,0 0 0,0 0 0,0-1 0,0 1 0,0 0 0,0 0 0,1 0 0,-1 0 0,0 0 0,0 0 0,0 0 0,0-1 0,0 1 0,0 0 0,0 0 0,0 0 0,0 0 0,0 0 0,0 0 0,0-1 0,0 1 0,0 0 0,0 0 0,0 0 0,0 0 0,0 0 0,0 0 0,0-1 0,0 1 0,0 0 0,-1 0 0,1 0 0,0 0 0,0 0 0,0 0 0,0 0 0,0 0 0,0-1 0,0 1 0,0 0 0,-1 0 0,-9-5 0,-14-2 0,-55 0 0,0 3 0,-82 6 0,31 1 0,-2062-3 0,2183 0 0,1 1 0,0-1 0,0 2 0,-13 2 0,20-4 0,1 0 0,-1 0 0,0 1 0,0-1 0,0 0 0,0 0 0,0 1 0,0-1 0,0 1 0,0-1 0,0 1 0,0-1 0,1 1 0,-1-1 0,0 1 0,0 0 0,1-1 0,-1 1 0,0 0 0,1 0 0,-1-1 0,1 1 0,-1 0 0,1 0 0,-1 0 0,1 0 0,-1 0 0,1 0 0,0 0 0,0 0 0,0 0 0,-1 0 0,1 0 0,0 0 0,0 0 0,0 0 0,0-1 0,1 1 0,-1 0 0,0 0 0,0 0 0,1 0 0,-1 0 0,0 0 0,1 0 0,-1 0 0,1 0 0,-1 0 0,1-1 0,-1 1 0,2 1 0,7 8 0,0 0 0,0-1 0,1 0 0,0-1 0,1 0 0,-1-1 0,14 7 0,86 40 0,139 60 0,-218-102 0,1-1 0,1-1 0,-1-2 0,1-2 0,1-1 0,66 2 0,-824-9 0,424 2 0,284-1-261,0 0 0,0-2 0,0 0 0,-16-6 0,31 9 201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9T14:39:13.363"/>
    </inkml:context>
    <inkml:brush xml:id="br0">
      <inkml:brushProperty name="width" value="0.35" units="cm"/>
      <inkml:brushProperty name="height" value="0.35" units="cm"/>
      <inkml:brushProperty name="color" value="#FFFFFF"/>
    </inkml:brush>
  </inkml:definitions>
  <inkml:trace contextRef="#ctx0" brushRef="#br0">0 258 24553,'4219'0'0,"-4733"-257"0,1028 514 0,-1028 0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9T14:39:19.566"/>
    </inkml:context>
    <inkml:brush xml:id="br0">
      <inkml:brushProperty name="width" value="0.35" units="cm"/>
      <inkml:brushProperty name="height" value="0.35" units="cm"/>
      <inkml:brushProperty name="color" value="#FFFFFF"/>
    </inkml:brush>
  </inkml:definitions>
  <inkml:trace contextRef="#ctx0" brushRef="#br0">1 99 24575,'1475'0'0,"-1458"-1"0,0-1 0,0 0 0,24-8 0,-21 5 0,40-4 0,157 9 0,27-2 0,-175-11 0,-50 8 0,-1 1 0,21-1 0,272 2 0,-160 5 0,-129-3 0,-1-1 0,39-9 0,-36 6 0,-1 0 0,28 0 0,501 4 0,-266 3 0,-203-1 0,93-3 0,-130-9-1365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9T14:39:21.299"/>
    </inkml:context>
    <inkml:brush xml:id="br0">
      <inkml:brushProperty name="width" value="0.35" units="cm"/>
      <inkml:brushProperty name="height" value="0.35" units="cm"/>
      <inkml:brushProperty name="color" value="#FFFFFF"/>
    </inkml:brush>
  </inkml:definitions>
  <inkml:trace contextRef="#ctx0" brushRef="#br0">1 89 24575,'1099'0'-1222,"-826"-15"1062,8 0-5,407 17 1712,-668-4-1547,1 0 0,36-8 0,-34 4 0,46-3 0,-5 7 0,-4 1 0,89-14 0,-77 7 0,0 2 0,120 7 0,-69 1 0,108-2-1365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9T14:39:25.248"/>
    </inkml:context>
    <inkml:brush xml:id="br0">
      <inkml:brushProperty name="width" value="0.35" units="cm"/>
      <inkml:brushProperty name="height" value="0.35" units="cm"/>
      <inkml:brushProperty name="color" value="#FFFFFF"/>
    </inkml:brush>
  </inkml:definitions>
  <inkml:trace contextRef="#ctx0" brushRef="#br0">1 31 24575,'1589'0'0,"-1552"-2"0,62-11 0,-59 7 0,44-2 0,505 6 0,-284 4 0,1341-2-1365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9T14:39:27.779"/>
    </inkml:context>
    <inkml:brush xml:id="br0">
      <inkml:brushProperty name="width" value="0.35" units="cm"/>
      <inkml:brushProperty name="height" value="0.35" units="cm"/>
      <inkml:brushProperty name="color" value="#FFFFFF"/>
    </inkml:brush>
  </inkml:definitions>
  <inkml:trace contextRef="#ctx0" brushRef="#br0">0 0 24550,'4161'0'0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9T14:39:30.400"/>
    </inkml:context>
    <inkml:brush xml:id="br0">
      <inkml:brushProperty name="width" value="0.35" units="cm"/>
      <inkml:brushProperty name="height" value="0.35" units="cm"/>
      <inkml:brushProperty name="color" value="#FFFFFF"/>
    </inkml:brush>
  </inkml:definitions>
  <inkml:trace contextRef="#ctx0" brushRef="#br0">1 62 24575,'607'0'0,"-575"-2"0,0-2 0,0 0 0,50-16 0,-47 11 0,-1 1 0,60-4 0,350 10 0,-218 4 0,466-2-1365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9T14:39:34.378"/>
    </inkml:context>
    <inkml:brush xml:id="br0">
      <inkml:brushProperty name="width" value="0.35" units="cm"/>
      <inkml:brushProperty name="height" value="0.35" units="cm"/>
      <inkml:brushProperty name="color" value="#FFFFFF"/>
    </inkml:brush>
  </inkml:definitions>
  <inkml:trace contextRef="#ctx0" brushRef="#br0">0 60 24575,'667'0'0,"-639"-1"0,1-2 0,33-7 0,-31 4 0,49-3 0,317 8 0,-188 3 0,-185-4 0,0 0 0,35-8 0,-30 4 0,39-2 0,396 5 0,-238 5 0,1477-2-1365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9T14:39:36.732"/>
    </inkml:context>
    <inkml:brush xml:id="br0">
      <inkml:brushProperty name="width" value="0.35" units="cm"/>
      <inkml:brushProperty name="height" value="0.35" units="cm"/>
      <inkml:brushProperty name="color" value="#FFFFFF"/>
    </inkml:brush>
  </inkml:definitions>
  <inkml:trace contextRef="#ctx0" brushRef="#br0">0 88 24575,'773'0'0,"-737"-1"0,63-12 0,-61 6 0,58-1 0,799 9 0,-867-3 0,1-1 0,33-7 0,-31 4 0,49-3 0,-40 9 0,0-1 0,65-9 0,-4-1 0,0 3 0,144 8 0,-97 2 0,1294-2-1365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9T14:39:38.429"/>
    </inkml:context>
    <inkml:brush xml:id="br0">
      <inkml:brushProperty name="width" value="0.35" units="cm"/>
      <inkml:brushProperty name="height" value="0.35" units="cm"/>
      <inkml:brushProperty name="color" value="#FFFFFF"/>
    </inkml:brush>
  </inkml:definitions>
  <inkml:trace contextRef="#ctx0" brushRef="#br0">0 180 24575,'241'2'0,"251"-5"0,-286-10-501,60-2-237,175-9 423,-368 18 297,44-6 18,57-4 0,33 2 520,13-1 198,-48 1-470,-14 0-162,-133 13-86,1-1 0,-1-1 0,34-9 0,-17 5 7,0 2 0,1 2 0,0 1 0,55 5 0,-5 0-1407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9T14:39:42.557"/>
    </inkml:context>
    <inkml:brush xml:id="br0">
      <inkml:brushProperty name="width" value="0.35" units="cm"/>
      <inkml:brushProperty name="height" value="0.35" units="cm"/>
      <inkml:brushProperty name="color" value="#FFFFFF"/>
    </inkml:brush>
  </inkml:definitions>
  <inkml:trace contextRef="#ctx0" brushRef="#br0">1 1 24575,'4272'0'-1365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9T14:39:45.170"/>
    </inkml:context>
    <inkml:brush xml:id="br0">
      <inkml:brushProperty name="width" value="0.35" units="cm"/>
      <inkml:brushProperty name="height" value="0.35" units="cm"/>
      <inkml:brushProperty name="color" value="#FFFFFF"/>
    </inkml:brush>
  </inkml:definitions>
  <inkml:trace contextRef="#ctx0" brushRef="#br0">0 1 24575,'4157'0'-1365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9T14:39:49.249"/>
    </inkml:context>
    <inkml:brush xml:id="br0">
      <inkml:brushProperty name="width" value="0.35" units="cm"/>
      <inkml:brushProperty name="height" value="0.35" units="cm"/>
      <inkml:brushProperty name="color" value="#FFFFFF"/>
    </inkml:brush>
  </inkml:definitions>
  <inkml:trace contextRef="#ctx0" brushRef="#br0">1 1 24575,'0'1'0,"1"1"0,0 0 0,0-1 0,0 1 0,0-1 0,0 1 0,1-1 0,-1 0 0,0 0 0,1 1 0,-1-1 0,1 0 0,-1 0 0,1 0 0,-1-1 0,1 1 0,0 0 0,-1 0 0,1-1 0,0 1 0,0-1 0,2 1 0,13 6 0,1 5 0,-1 1 0,0 1 0,15 18 0,4 1 0,-18-15 0,-2 0 0,0 1 0,26 40 0,-37-51 0,-1 1 0,0-1 0,-1 1 0,0 0 0,0 0 0,-1 0 0,0 0 0,0 0 0,0 13 0,-1 13 0,-4 42 0,0-19 0,2 115-1365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9T14:39:55.394"/>
    </inkml:context>
    <inkml:brush xml:id="br0">
      <inkml:brushProperty name="width" value="0.35" units="cm"/>
      <inkml:brushProperty name="height" value="0.35" units="cm"/>
      <inkml:brushProperty name="color" value="#FFFFFF"/>
    </inkml:brush>
  </inkml:definitions>
  <inkml:trace contextRef="#ctx0" brushRef="#br0">1 60 24575,'1127'0'0,"-1097"-2"0,0-1 0,31-6 0,43-5 0,230 12 0,-171 3 0,-135-2 0,1-2 0,33-8 0,-31 6 0,50-4 0,489 7 0,-273 4 0,1230-2-1365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9T14:39:57.757"/>
    </inkml:context>
    <inkml:brush xml:id="br0">
      <inkml:brushProperty name="width" value="0.35" units="cm"/>
      <inkml:brushProperty name="height" value="0.35" units="cm"/>
      <inkml:brushProperty name="color" value="#FFFFFF"/>
    </inkml:brush>
  </inkml:definitions>
  <inkml:trace contextRef="#ctx0" brushRef="#br0">1 203 24575,'19'-1'0,"0"-1"0,35-8 0,20-3 0,-44 11 0,152-17 0,-126 13 0,-1 2 0,67 5 0,46-3 0,-122-4 0,68-17 0,-75 14 0,0 1 0,71-4 0,-94 12 0,16 0 0,1-2 0,-1-1 0,39-8 0,-49 7 0,39-3 0,-40 6 0,-1-1 0,34-8 0,-1-4 0,0 3 0,1 2 0,0 2 0,91 1 0,1392 9 172,-824-5-1709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9T14:39:59.855"/>
    </inkml:context>
    <inkml:brush xml:id="br0">
      <inkml:brushProperty name="width" value="0.35" units="cm"/>
      <inkml:brushProperty name="height" value="0.35" units="cm"/>
      <inkml:brushProperty name="color" value="#FFFFFF"/>
    </inkml:brush>
  </inkml:definitions>
  <inkml:trace contextRef="#ctx0" brushRef="#br0">1 116 24503,'3924'-116'0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358990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>
              <a:alpha val="9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2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>
              <a:alpha val="9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3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>
              <a:alpha val="9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4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>
              <a:alpha val="9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5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>
              <a:alpha val="9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6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>
              <a:alpha val="9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7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>
              <a:alpha val="9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8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>
              <a:alpha val="9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customXml" Target="../ink/ink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customXml" Target="../ink/ink4.xml"/><Relationship Id="rId3" Type="http://schemas.openxmlformats.org/officeDocument/2006/relationships/image" Target="../media/image5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Relationship Id="rId6" Type="http://schemas.openxmlformats.org/officeDocument/2006/relationships/customXml" Target="../ink/ink3.xml"/><Relationship Id="rId5" Type="http://schemas.openxmlformats.org/officeDocument/2006/relationships/image" Target="../media/image6.png"/><Relationship Id="rId4" Type="http://schemas.openxmlformats.org/officeDocument/2006/relationships/customXml" Target="../ink/ink2.xml"/><Relationship Id="rId9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customXml" Target="../ink/ink7.xml"/><Relationship Id="rId3" Type="http://schemas.openxmlformats.org/officeDocument/2006/relationships/image" Target="../media/image10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Relationship Id="rId6" Type="http://schemas.openxmlformats.org/officeDocument/2006/relationships/customXml" Target="../ink/ink6.xml"/><Relationship Id="rId5" Type="http://schemas.openxmlformats.org/officeDocument/2006/relationships/image" Target="../media/image11.png"/><Relationship Id="rId4" Type="http://schemas.openxmlformats.org/officeDocument/2006/relationships/customXml" Target="../ink/ink5.xml"/><Relationship Id="rId9" Type="http://schemas.openxmlformats.org/officeDocument/2006/relationships/image" Target="../media/image13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customXml" Target="../ink/ink8.xml"/><Relationship Id="rId7" Type="http://schemas.openxmlformats.org/officeDocument/2006/relationships/customXml" Target="../ink/ink10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5.png"/><Relationship Id="rId5" Type="http://schemas.openxmlformats.org/officeDocument/2006/relationships/customXml" Target="../ink/ink9.xml"/><Relationship Id="rId4" Type="http://schemas.openxmlformats.org/officeDocument/2006/relationships/image" Target="../media/image14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customXml" Target="../ink/ink12.xml"/><Relationship Id="rId3" Type="http://schemas.openxmlformats.org/officeDocument/2006/relationships/image" Target="../media/image17.png"/><Relationship Id="rId7" Type="http://schemas.openxmlformats.org/officeDocument/2006/relationships/image" Target="../media/image2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8.xml"/><Relationship Id="rId6" Type="http://schemas.openxmlformats.org/officeDocument/2006/relationships/customXml" Target="../ink/ink11.xml"/><Relationship Id="rId11" Type="http://schemas.openxmlformats.org/officeDocument/2006/relationships/image" Target="../media/image22.png"/><Relationship Id="rId5" Type="http://schemas.openxmlformats.org/officeDocument/2006/relationships/image" Target="../media/image19.png"/><Relationship Id="rId10" Type="http://schemas.openxmlformats.org/officeDocument/2006/relationships/customXml" Target="../ink/ink13.xml"/><Relationship Id="rId4" Type="http://schemas.openxmlformats.org/officeDocument/2006/relationships/image" Target="../media/image18.png"/><Relationship Id="rId9" Type="http://schemas.openxmlformats.org/officeDocument/2006/relationships/image" Target="../media/image21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customXml" Target="../ink/ink14.xml"/><Relationship Id="rId7" Type="http://schemas.openxmlformats.org/officeDocument/2006/relationships/customXml" Target="../ink/ink16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9.xml"/><Relationship Id="rId6" Type="http://schemas.openxmlformats.org/officeDocument/2006/relationships/image" Target="../media/image24.png"/><Relationship Id="rId5" Type="http://schemas.openxmlformats.org/officeDocument/2006/relationships/customXml" Target="../ink/ink15.xml"/><Relationship Id="rId4" Type="http://schemas.openxmlformats.org/officeDocument/2006/relationships/image" Target="../media/image2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sp>
        <p:nvSpPr>
          <p:cNvPr id="4" name="Text 1"/>
          <p:cNvSpPr/>
          <p:nvPr/>
        </p:nvSpPr>
        <p:spPr>
          <a:xfrm>
            <a:off x="793790" y="3009186"/>
            <a:ext cx="13042821" cy="14175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dirty="0">
                <a:solidFill>
                  <a:srgbClr val="505468"/>
                </a:solidFill>
                <a:latin typeface="Instrument Sans Semi Bold" pitchFamily="34" charset="0"/>
                <a:ea typeface="Instrument Sans Semi Bold" pitchFamily="34" charset="-122"/>
                <a:cs typeface="Instrument Sans Semi Bold" pitchFamily="34" charset="-120"/>
              </a:rPr>
              <a:t>Traffic Flow Optimization Using Machine Learning (LSTM &amp; XGBoost)</a:t>
            </a:r>
            <a:endParaRPr lang="en-US" sz="4450" dirty="0"/>
          </a:p>
        </p:txBody>
      </p:sp>
      <p:sp>
        <p:nvSpPr>
          <p:cNvPr id="5" name="Text 2"/>
          <p:cNvSpPr/>
          <p:nvPr/>
        </p:nvSpPr>
        <p:spPr>
          <a:xfrm>
            <a:off x="793790" y="4766905"/>
            <a:ext cx="13042821" cy="4535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550"/>
              </a:lnSpc>
              <a:buNone/>
            </a:pPr>
            <a:r>
              <a:rPr lang="en-US" sz="2200" dirty="0">
                <a:solidFill>
                  <a:srgbClr val="5B5F71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Predicting traffic congestion levels in Bengaluru city using real-time traffic parameters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1258491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505468"/>
                </a:solidFill>
                <a:latin typeface="Instrument Sans Semi Bold" pitchFamily="34" charset="0"/>
                <a:ea typeface="Instrument Sans Semi Bold" pitchFamily="34" charset="-122"/>
                <a:cs typeface="Instrument Sans Semi Bold" pitchFamily="34" charset="-120"/>
              </a:rPr>
              <a:t>Project Overview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793790" y="1703546"/>
            <a:ext cx="7837289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dirty="0">
                <a:solidFill>
                  <a:srgbClr val="505468"/>
                </a:solidFill>
                <a:latin typeface="Instrument Sans Semi Bold" pitchFamily="34" charset="0"/>
                <a:ea typeface="Instrument Sans Semi Bold" pitchFamily="34" charset="-122"/>
                <a:cs typeface="Instrument Sans Semi Bold" pitchFamily="34" charset="-120"/>
              </a:rPr>
              <a:t>Traffic Congestion Prediction</a:t>
            </a:r>
            <a:endParaRPr lang="en-US" sz="4450" dirty="0"/>
          </a:p>
        </p:txBody>
      </p:sp>
      <p:sp>
        <p:nvSpPr>
          <p:cNvPr id="4" name="Text 2"/>
          <p:cNvSpPr/>
          <p:nvPr/>
        </p:nvSpPr>
        <p:spPr>
          <a:xfrm>
            <a:off x="793790" y="2979301"/>
            <a:ext cx="3402330" cy="425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300"/>
              </a:lnSpc>
              <a:buNone/>
            </a:pPr>
            <a:r>
              <a:rPr lang="en-US" sz="2650" dirty="0">
                <a:solidFill>
                  <a:srgbClr val="505468"/>
                </a:solidFill>
                <a:latin typeface="Instrument Sans Semi Bold" pitchFamily="34" charset="0"/>
                <a:ea typeface="Instrument Sans Semi Bold" pitchFamily="34" charset="-122"/>
                <a:cs typeface="Instrument Sans Semi Bold" pitchFamily="34" charset="-120"/>
              </a:rPr>
              <a:t>Aim</a:t>
            </a:r>
            <a:endParaRPr lang="en-US" sz="2650" dirty="0"/>
          </a:p>
        </p:txBody>
      </p:sp>
      <p:sp>
        <p:nvSpPr>
          <p:cNvPr id="5" name="Text 3"/>
          <p:cNvSpPr/>
          <p:nvPr/>
        </p:nvSpPr>
        <p:spPr>
          <a:xfrm>
            <a:off x="793790" y="3631406"/>
            <a:ext cx="6244709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5B5F71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To </a:t>
            </a:r>
            <a:r>
              <a:rPr lang="en-US" sz="1750" b="1" dirty="0">
                <a:solidFill>
                  <a:srgbClr val="5B5F71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predict traffic congestion levels</a:t>
            </a:r>
            <a:r>
              <a:rPr lang="en-US" sz="1750" dirty="0">
                <a:solidFill>
                  <a:srgbClr val="5B5F71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 in Bengaluru city using real-time traffic parameters.</a:t>
            </a:r>
            <a:endParaRPr lang="en-US" sz="1750" dirty="0"/>
          </a:p>
        </p:txBody>
      </p:sp>
      <p:sp>
        <p:nvSpPr>
          <p:cNvPr id="6" name="Text 4"/>
          <p:cNvSpPr/>
          <p:nvPr/>
        </p:nvSpPr>
        <p:spPr>
          <a:xfrm>
            <a:off x="793790" y="4584025"/>
            <a:ext cx="3402330" cy="425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300"/>
              </a:lnSpc>
              <a:buNone/>
            </a:pPr>
            <a:r>
              <a:rPr lang="en-US" sz="2650" dirty="0">
                <a:solidFill>
                  <a:srgbClr val="505468"/>
                </a:solidFill>
                <a:latin typeface="Instrument Sans Semi Bold" pitchFamily="34" charset="0"/>
                <a:ea typeface="Instrument Sans Semi Bold" pitchFamily="34" charset="-122"/>
                <a:cs typeface="Instrument Sans Semi Bold" pitchFamily="34" charset="-120"/>
              </a:rPr>
              <a:t>Built two models:</a:t>
            </a:r>
            <a:endParaRPr lang="en-US" sz="2650" dirty="0"/>
          </a:p>
        </p:txBody>
      </p:sp>
      <p:sp>
        <p:nvSpPr>
          <p:cNvPr id="7" name="Text 5"/>
          <p:cNvSpPr/>
          <p:nvPr/>
        </p:nvSpPr>
        <p:spPr>
          <a:xfrm>
            <a:off x="793790" y="5236131"/>
            <a:ext cx="6244709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b="1" dirty="0">
                <a:solidFill>
                  <a:srgbClr val="5B5F71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LSTM (Long Short Term Memory)</a:t>
            </a:r>
            <a:r>
              <a:rPr lang="en-US" sz="1750" dirty="0">
                <a:solidFill>
                  <a:srgbClr val="5B5F71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 for temporal sequence analysis</a:t>
            </a:r>
            <a:endParaRPr lang="en-US" sz="1750" dirty="0"/>
          </a:p>
        </p:txBody>
      </p:sp>
      <p:sp>
        <p:nvSpPr>
          <p:cNvPr id="8" name="Text 6"/>
          <p:cNvSpPr/>
          <p:nvPr/>
        </p:nvSpPr>
        <p:spPr>
          <a:xfrm>
            <a:off x="793790" y="6041231"/>
            <a:ext cx="6244709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b="1" dirty="0">
                <a:solidFill>
                  <a:srgbClr val="5B5F71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XGBoost (Extreme Gradient Boost)</a:t>
            </a:r>
            <a:r>
              <a:rPr lang="en-US" sz="1750" dirty="0">
                <a:solidFill>
                  <a:srgbClr val="5B5F71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 for tabular data with engineered features</a:t>
            </a:r>
            <a:endParaRPr lang="en-US" sz="1750" dirty="0"/>
          </a:p>
        </p:txBody>
      </p:sp>
      <p:sp>
        <p:nvSpPr>
          <p:cNvPr id="9" name="Text 7"/>
          <p:cNvSpPr/>
          <p:nvPr/>
        </p:nvSpPr>
        <p:spPr>
          <a:xfrm>
            <a:off x="7599521" y="2979301"/>
            <a:ext cx="3402330" cy="425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300"/>
              </a:lnSpc>
              <a:buNone/>
            </a:pPr>
            <a:r>
              <a:rPr lang="en-US" sz="2650" dirty="0">
                <a:solidFill>
                  <a:srgbClr val="505468"/>
                </a:solidFill>
                <a:latin typeface="Instrument Sans Semi Bold" pitchFamily="34" charset="0"/>
                <a:ea typeface="Instrument Sans Semi Bold" pitchFamily="34" charset="-122"/>
                <a:cs typeface="Instrument Sans Semi Bold" pitchFamily="34" charset="-120"/>
              </a:rPr>
              <a:t>Purpose:</a:t>
            </a:r>
            <a:endParaRPr lang="en-US" sz="2650" dirty="0"/>
          </a:p>
        </p:txBody>
      </p:sp>
      <p:sp>
        <p:nvSpPr>
          <p:cNvPr id="10" name="Text 8"/>
          <p:cNvSpPr/>
          <p:nvPr/>
        </p:nvSpPr>
        <p:spPr>
          <a:xfrm>
            <a:off x="7599521" y="3631406"/>
            <a:ext cx="6244709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5B5F71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Help city planners &amp; commuters predict congestion ahead of time</a:t>
            </a:r>
            <a:endParaRPr lang="en-US" sz="1750" dirty="0"/>
          </a:p>
        </p:txBody>
      </p:sp>
      <p:sp>
        <p:nvSpPr>
          <p:cNvPr id="11" name="Text 9"/>
          <p:cNvSpPr/>
          <p:nvPr/>
        </p:nvSpPr>
        <p:spPr>
          <a:xfrm>
            <a:off x="7599521" y="4436507"/>
            <a:ext cx="6244709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5B5F71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Enable dynamic traffic signal control and route optimization</a:t>
            </a:r>
            <a:endParaRPr lang="en-US" sz="1750" dirty="0"/>
          </a:p>
        </p:txBody>
      </p:sp>
      <p:sp>
        <p:nvSpPr>
          <p:cNvPr id="12" name="Text 10"/>
          <p:cNvSpPr/>
          <p:nvPr/>
        </p:nvSpPr>
        <p:spPr>
          <a:xfrm>
            <a:off x="7599521" y="5389126"/>
            <a:ext cx="3402330" cy="425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300"/>
              </a:lnSpc>
              <a:buNone/>
            </a:pPr>
            <a:r>
              <a:rPr lang="en-US" sz="2650" dirty="0">
                <a:solidFill>
                  <a:srgbClr val="505468"/>
                </a:solidFill>
                <a:latin typeface="Instrument Sans Semi Bold" pitchFamily="34" charset="0"/>
                <a:ea typeface="Instrument Sans Semi Bold" pitchFamily="34" charset="-122"/>
                <a:cs typeface="Instrument Sans Semi Bold" pitchFamily="34" charset="-120"/>
              </a:rPr>
              <a:t>Outcome:</a:t>
            </a:r>
            <a:endParaRPr lang="en-US" sz="2650" dirty="0"/>
          </a:p>
        </p:txBody>
      </p:sp>
      <p:sp>
        <p:nvSpPr>
          <p:cNvPr id="13" name="Text 11"/>
          <p:cNvSpPr/>
          <p:nvPr/>
        </p:nvSpPr>
        <p:spPr>
          <a:xfrm>
            <a:off x="7599521" y="6041231"/>
            <a:ext cx="6244709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5B5F71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Achieved </a:t>
            </a:r>
            <a:r>
              <a:rPr lang="en-US" sz="1750" b="1" dirty="0">
                <a:solidFill>
                  <a:srgbClr val="505468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high prediction accuracy</a:t>
            </a:r>
            <a:r>
              <a:rPr lang="en-US" sz="1750" dirty="0">
                <a:solidFill>
                  <a:srgbClr val="5B5F71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 and actionable insights into congestion patterns.</a:t>
            </a:r>
            <a:endParaRPr lang="en-US" sz="1750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14" name="Ink 13">
                <a:extLst>
                  <a:ext uri="{FF2B5EF4-FFF2-40B4-BE49-F238E27FC236}">
                    <a16:creationId xmlns:a16="http://schemas.microsoft.com/office/drawing/2014/main" id="{37D3806C-FEA2-35B6-231C-954749DA4922}"/>
                  </a:ext>
                </a:extLst>
              </p14:cNvPr>
              <p14:cNvContentPartPr/>
              <p14:nvPr/>
            </p14:nvContentPartPr>
            <p14:xfrm>
              <a:off x="12936485" y="7823635"/>
              <a:ext cx="1485000" cy="292680"/>
            </p14:xfrm>
          </p:contentPart>
        </mc:Choice>
        <mc:Fallback xmlns="">
          <p:pic>
            <p:nvPicPr>
              <p:cNvPr id="14" name="Ink 13">
                <a:extLst>
                  <a:ext uri="{FF2B5EF4-FFF2-40B4-BE49-F238E27FC236}">
                    <a16:creationId xmlns:a16="http://schemas.microsoft.com/office/drawing/2014/main" id="{37D3806C-FEA2-35B6-231C-954749DA4922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2873845" y="7760995"/>
                <a:ext cx="1610640" cy="41832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7466" y="532328"/>
            <a:ext cx="8019217" cy="60495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750"/>
              </a:lnSpc>
              <a:buNone/>
            </a:pPr>
            <a:r>
              <a:rPr lang="en-US" sz="3800" dirty="0">
                <a:solidFill>
                  <a:srgbClr val="505468"/>
                </a:solidFill>
                <a:latin typeface="Instrument Sans Semi Bold" pitchFamily="34" charset="0"/>
                <a:ea typeface="Instrument Sans Semi Bold" pitchFamily="34" charset="-122"/>
                <a:cs typeface="Instrument Sans Semi Bold" pitchFamily="34" charset="-120"/>
              </a:rPr>
              <a:t>Bengaluru Traffic Dataset Overview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677466" y="1621036"/>
            <a:ext cx="2903696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2250" dirty="0">
                <a:solidFill>
                  <a:srgbClr val="505468"/>
                </a:solidFill>
                <a:latin typeface="Instrument Sans Semi Bold" pitchFamily="34" charset="0"/>
                <a:ea typeface="Instrument Sans Semi Bold" pitchFamily="34" charset="-122"/>
                <a:cs typeface="Instrument Sans Semi Bold" pitchFamily="34" charset="-120"/>
              </a:rPr>
              <a:t>Source &amp; Scale</a:t>
            </a:r>
            <a:endParaRPr lang="en-US" sz="2250" dirty="0"/>
          </a:p>
        </p:txBody>
      </p:sp>
      <p:sp>
        <p:nvSpPr>
          <p:cNvPr id="4" name="Text 2"/>
          <p:cNvSpPr/>
          <p:nvPr/>
        </p:nvSpPr>
        <p:spPr>
          <a:xfrm>
            <a:off x="677466" y="2177415"/>
            <a:ext cx="7088981" cy="3096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400"/>
              </a:lnSpc>
              <a:buSzPct val="100000"/>
              <a:buChar char="•"/>
            </a:pPr>
            <a:r>
              <a:rPr lang="en-US" sz="1500" b="1" dirty="0">
                <a:solidFill>
                  <a:srgbClr val="5B5F71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Source:</a:t>
            </a:r>
            <a:r>
              <a:rPr lang="en-US" sz="1500" dirty="0">
                <a:solidFill>
                  <a:srgbClr val="5B5F71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 Publicly available dataset of traffic data from Bengaluru roads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677466" y="2554843"/>
            <a:ext cx="7088981" cy="3096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400"/>
              </a:lnSpc>
              <a:buSzPct val="100000"/>
              <a:buChar char="•"/>
            </a:pPr>
            <a:r>
              <a:rPr lang="en-US" sz="1500" b="1" dirty="0">
                <a:solidFill>
                  <a:srgbClr val="5B5F71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Records:</a:t>
            </a:r>
            <a:r>
              <a:rPr lang="en-US" sz="1500" dirty="0">
                <a:solidFill>
                  <a:srgbClr val="5B5F71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 ~9,000 samples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77466" y="3058001"/>
            <a:ext cx="2903696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2250" dirty="0">
                <a:solidFill>
                  <a:srgbClr val="505468"/>
                </a:solidFill>
                <a:latin typeface="Instrument Sans Semi Bold" pitchFamily="34" charset="0"/>
                <a:ea typeface="Instrument Sans Semi Bold" pitchFamily="34" charset="-122"/>
                <a:cs typeface="Instrument Sans Semi Bold" pitchFamily="34" charset="-120"/>
              </a:rPr>
              <a:t>Key Features: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677466" y="3614380"/>
            <a:ext cx="7088981" cy="3096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400"/>
              </a:lnSpc>
              <a:buSzPct val="100000"/>
              <a:buChar char="•"/>
            </a:pPr>
            <a:r>
              <a:rPr lang="en-US" sz="1500" dirty="0">
                <a:solidFill>
                  <a:srgbClr val="5B5F71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Date &amp; Time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77466" y="3991808"/>
            <a:ext cx="7088981" cy="3096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400"/>
              </a:lnSpc>
              <a:buSzPct val="100000"/>
              <a:buChar char="•"/>
            </a:pPr>
            <a:r>
              <a:rPr lang="en-US" sz="1500" dirty="0">
                <a:solidFill>
                  <a:srgbClr val="5B5F71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Average Speed (km/h)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77466" y="4369237"/>
            <a:ext cx="7088981" cy="3096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400"/>
              </a:lnSpc>
              <a:buSzPct val="100000"/>
              <a:buChar char="•"/>
            </a:pPr>
            <a:r>
              <a:rPr lang="en-US" sz="1500" dirty="0">
                <a:solidFill>
                  <a:srgbClr val="5B5F71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Traffic Volume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77466" y="4746665"/>
            <a:ext cx="7088981" cy="3096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400"/>
              </a:lnSpc>
              <a:buSzPct val="100000"/>
              <a:buChar char="•"/>
            </a:pPr>
            <a:r>
              <a:rPr lang="en-US" sz="1500" dirty="0">
                <a:solidFill>
                  <a:srgbClr val="5B5F71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Congestion Level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77466" y="5124093"/>
            <a:ext cx="7088981" cy="3096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400"/>
              </a:lnSpc>
              <a:buSzPct val="100000"/>
              <a:buChar char="•"/>
            </a:pPr>
            <a:r>
              <a:rPr lang="en-US" sz="1500" dirty="0">
                <a:solidFill>
                  <a:srgbClr val="5B5F71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Travel Time Index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77466" y="5501521"/>
            <a:ext cx="7088981" cy="3096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400"/>
              </a:lnSpc>
              <a:buSzPct val="100000"/>
              <a:buChar char="•"/>
            </a:pPr>
            <a:r>
              <a:rPr lang="en-US" sz="1500" dirty="0">
                <a:solidFill>
                  <a:srgbClr val="5B5F71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Road Capacity Utilization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77466" y="5878949"/>
            <a:ext cx="7088981" cy="3096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400"/>
              </a:lnSpc>
              <a:buSzPct val="100000"/>
              <a:buChar char="•"/>
            </a:pPr>
            <a:r>
              <a:rPr lang="en-US" sz="1500" dirty="0">
                <a:solidFill>
                  <a:srgbClr val="5B5F71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Incident Reports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77466" y="6256377"/>
            <a:ext cx="7088981" cy="3096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400"/>
              </a:lnSpc>
              <a:buSzPct val="100000"/>
              <a:buChar char="•"/>
            </a:pPr>
            <a:r>
              <a:rPr lang="en-US" sz="1500" dirty="0">
                <a:solidFill>
                  <a:srgbClr val="5B5F71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Weather Conditions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246269" y="1621036"/>
            <a:ext cx="2905958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2250" dirty="0">
                <a:solidFill>
                  <a:srgbClr val="505468"/>
                </a:solidFill>
                <a:latin typeface="Instrument Sans Semi Bold" pitchFamily="34" charset="0"/>
                <a:ea typeface="Instrument Sans Semi Bold" pitchFamily="34" charset="-122"/>
                <a:cs typeface="Instrument Sans Semi Bold" pitchFamily="34" charset="-120"/>
              </a:rPr>
              <a:t>Preprocessing Steps:</a:t>
            </a:r>
            <a:endParaRPr lang="en-US" sz="2250" dirty="0"/>
          </a:p>
        </p:txBody>
      </p:sp>
      <p:sp>
        <p:nvSpPr>
          <p:cNvPr id="16" name="Text 14"/>
          <p:cNvSpPr/>
          <p:nvPr/>
        </p:nvSpPr>
        <p:spPr>
          <a:xfrm>
            <a:off x="8246269" y="2177415"/>
            <a:ext cx="5714167" cy="3096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400"/>
              </a:lnSpc>
              <a:buSzPct val="100000"/>
              <a:buChar char="•"/>
            </a:pPr>
            <a:r>
              <a:rPr lang="en-US" sz="1500" dirty="0">
                <a:solidFill>
                  <a:srgbClr val="5B5F71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Handled missing values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8246269" y="2554843"/>
            <a:ext cx="5714167" cy="3096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400"/>
              </a:lnSpc>
              <a:buSzPct val="100000"/>
              <a:buChar char="•"/>
            </a:pPr>
            <a:r>
              <a:rPr lang="en-US" sz="1500" dirty="0">
                <a:solidFill>
                  <a:srgbClr val="5B5F71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Extracted time-based features (hour, day, month, etc.)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8246269" y="2932271"/>
            <a:ext cx="5714167" cy="3096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400"/>
              </a:lnSpc>
              <a:buSzPct val="100000"/>
              <a:buChar char="•"/>
            </a:pPr>
            <a:r>
              <a:rPr lang="en-US" sz="1500" dirty="0">
                <a:solidFill>
                  <a:srgbClr val="5B5F71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Encoded categorical features (Weather)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8246269" y="3309699"/>
            <a:ext cx="5714167" cy="3096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400"/>
              </a:lnSpc>
              <a:buSzPct val="100000"/>
              <a:buChar char="•"/>
            </a:pPr>
            <a:r>
              <a:rPr lang="en-US" sz="1500" dirty="0">
                <a:solidFill>
                  <a:srgbClr val="5B5F71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Created lag &amp; rolling features for trend detection</a:t>
            </a:r>
            <a:endParaRPr lang="en-US" sz="1500" dirty="0"/>
          </a:p>
        </p:txBody>
      </p:sp>
      <p:pic>
        <p:nvPicPr>
          <p:cNvPr id="20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46269" y="3837146"/>
            <a:ext cx="5714167" cy="3909655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22" name="Ink 21">
                <a:extLst>
                  <a:ext uri="{FF2B5EF4-FFF2-40B4-BE49-F238E27FC236}">
                    <a16:creationId xmlns:a16="http://schemas.microsoft.com/office/drawing/2014/main" id="{0A9B3AA6-02BE-B2CB-C3F5-0712B84BE65B}"/>
                  </a:ext>
                </a:extLst>
              </p14:cNvPr>
              <p14:cNvContentPartPr/>
              <p14:nvPr/>
            </p14:nvContentPartPr>
            <p14:xfrm>
              <a:off x="12894725" y="7825075"/>
              <a:ext cx="1519200" cy="185400"/>
            </p14:xfrm>
          </p:contentPart>
        </mc:Choice>
        <mc:Fallback xmlns="">
          <p:pic>
            <p:nvPicPr>
              <p:cNvPr id="22" name="Ink 21">
                <a:extLst>
                  <a:ext uri="{FF2B5EF4-FFF2-40B4-BE49-F238E27FC236}">
                    <a16:creationId xmlns:a16="http://schemas.microsoft.com/office/drawing/2014/main" id="{0A9B3AA6-02BE-B2CB-C3F5-0712B84BE65B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2831725" y="7762435"/>
                <a:ext cx="1644840" cy="311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23" name="Ink 22">
                <a:extLst>
                  <a:ext uri="{FF2B5EF4-FFF2-40B4-BE49-F238E27FC236}">
                    <a16:creationId xmlns:a16="http://schemas.microsoft.com/office/drawing/2014/main" id="{769C79D3-4542-A04C-E18B-EE41E269D15D}"/>
                  </a:ext>
                </a:extLst>
              </p14:cNvPr>
              <p14:cNvContentPartPr/>
              <p14:nvPr/>
            </p14:nvContentPartPr>
            <p14:xfrm>
              <a:off x="12998765" y="7996795"/>
              <a:ext cx="1461600" cy="36000"/>
            </p14:xfrm>
          </p:contentPart>
        </mc:Choice>
        <mc:Fallback xmlns="">
          <p:pic>
            <p:nvPicPr>
              <p:cNvPr id="23" name="Ink 22">
                <a:extLst>
                  <a:ext uri="{FF2B5EF4-FFF2-40B4-BE49-F238E27FC236}">
                    <a16:creationId xmlns:a16="http://schemas.microsoft.com/office/drawing/2014/main" id="{769C79D3-4542-A04C-E18B-EE41E269D15D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12936125" y="7933795"/>
                <a:ext cx="1587240" cy="161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24" name="Ink 23">
                <a:extLst>
                  <a:ext uri="{FF2B5EF4-FFF2-40B4-BE49-F238E27FC236}">
                    <a16:creationId xmlns:a16="http://schemas.microsoft.com/office/drawing/2014/main" id="{6DBB3DAF-AE88-01CA-3523-1BF8205CB5BE}"/>
                  </a:ext>
                </a:extLst>
              </p14:cNvPr>
              <p14:cNvContentPartPr/>
              <p14:nvPr/>
            </p14:nvContentPartPr>
            <p14:xfrm>
              <a:off x="12905165" y="7781875"/>
              <a:ext cx="1258200" cy="32400"/>
            </p14:xfrm>
          </p:contentPart>
        </mc:Choice>
        <mc:Fallback xmlns="">
          <p:pic>
            <p:nvPicPr>
              <p:cNvPr id="24" name="Ink 23">
                <a:extLst>
                  <a:ext uri="{FF2B5EF4-FFF2-40B4-BE49-F238E27FC236}">
                    <a16:creationId xmlns:a16="http://schemas.microsoft.com/office/drawing/2014/main" id="{6DBB3DAF-AE88-01CA-3523-1BF8205CB5BE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12842525" y="7718875"/>
                <a:ext cx="1383840" cy="15804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0" y="0"/>
            <a:ext cx="6583680" cy="8229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26638" y="694373"/>
            <a:ext cx="6593443" cy="1297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5100"/>
              </a:lnSpc>
              <a:buNone/>
            </a:pPr>
            <a:r>
              <a:rPr lang="en-US" sz="4050" dirty="0">
                <a:solidFill>
                  <a:srgbClr val="505468"/>
                </a:solidFill>
                <a:latin typeface="Instrument Sans Semi Bold" pitchFamily="34" charset="0"/>
                <a:ea typeface="Instrument Sans Semi Bold" pitchFamily="34" charset="-122"/>
                <a:cs typeface="Instrument Sans Semi Bold" pitchFamily="34" charset="-120"/>
              </a:rPr>
              <a:t>About LSTM (Long Short-Term Memory Networks)</a:t>
            </a:r>
            <a:endParaRPr lang="en-US" sz="4050" dirty="0"/>
          </a:p>
        </p:txBody>
      </p:sp>
      <p:sp>
        <p:nvSpPr>
          <p:cNvPr id="4" name="Text 1"/>
          <p:cNvSpPr/>
          <p:nvPr/>
        </p:nvSpPr>
        <p:spPr>
          <a:xfrm>
            <a:off x="726638" y="2303502"/>
            <a:ext cx="6593443" cy="6643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600"/>
              </a:lnSpc>
              <a:buNone/>
            </a:pPr>
            <a:r>
              <a:rPr lang="en-US" sz="1600" b="1" dirty="0">
                <a:solidFill>
                  <a:srgbClr val="5B5F71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LSTM</a:t>
            </a:r>
            <a:r>
              <a:rPr lang="en-US" sz="1600" dirty="0">
                <a:solidFill>
                  <a:srgbClr val="5B5F71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 is a type of Recurrent Neural Network (RNN) specialized for </a:t>
            </a:r>
            <a:r>
              <a:rPr lang="en-US" sz="1600" b="1" dirty="0">
                <a:solidFill>
                  <a:srgbClr val="5B5F71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sequential time-series data</a:t>
            </a:r>
            <a:r>
              <a:rPr lang="en-US" sz="1600" dirty="0">
                <a:solidFill>
                  <a:srgbClr val="5B5F71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.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726638" y="3279219"/>
            <a:ext cx="3114437" cy="3893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050"/>
              </a:lnSpc>
              <a:buNone/>
            </a:pPr>
            <a:r>
              <a:rPr lang="en-US" sz="2450" dirty="0">
                <a:solidFill>
                  <a:srgbClr val="505468"/>
                </a:solidFill>
                <a:latin typeface="Instrument Sans Semi Bold" pitchFamily="34" charset="0"/>
                <a:ea typeface="Instrument Sans Semi Bold" pitchFamily="34" charset="-122"/>
                <a:cs typeface="Instrument Sans Semi Bold" pitchFamily="34" charset="-120"/>
              </a:rPr>
              <a:t>Why LSTM?</a:t>
            </a:r>
            <a:endParaRPr lang="en-US" sz="2450" dirty="0"/>
          </a:p>
        </p:txBody>
      </p:sp>
      <p:sp>
        <p:nvSpPr>
          <p:cNvPr id="6" name="Text 3"/>
          <p:cNvSpPr/>
          <p:nvPr/>
        </p:nvSpPr>
        <p:spPr>
          <a:xfrm>
            <a:off x="726638" y="3979902"/>
            <a:ext cx="6593443" cy="6643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600"/>
              </a:lnSpc>
              <a:buSzPct val="100000"/>
              <a:buChar char="•"/>
            </a:pPr>
            <a:r>
              <a:rPr lang="en-US" sz="1600" dirty="0">
                <a:solidFill>
                  <a:srgbClr val="5B5F71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Captures temporal dependencies (previous traffic states affect future states).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726638" y="4716899"/>
            <a:ext cx="6593443" cy="3321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600"/>
              </a:lnSpc>
              <a:buSzPct val="100000"/>
              <a:buChar char="•"/>
            </a:pPr>
            <a:r>
              <a:rPr lang="en-US" sz="1600" dirty="0">
                <a:solidFill>
                  <a:srgbClr val="5B5F71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Handles long-term patterns like peak-hour trends.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726638" y="5121712"/>
            <a:ext cx="6593443" cy="6643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600"/>
              </a:lnSpc>
              <a:buSzPct val="100000"/>
              <a:buChar char="•"/>
            </a:pPr>
            <a:r>
              <a:rPr lang="en-US" sz="1600" dirty="0">
                <a:solidFill>
                  <a:srgbClr val="5B5F71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Works well when congestion depends on time-based events (rush hours, weekends).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26638" y="6097429"/>
            <a:ext cx="3114437" cy="3893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050"/>
              </a:lnSpc>
              <a:buNone/>
            </a:pPr>
            <a:r>
              <a:rPr lang="en-US" sz="2450" dirty="0">
                <a:solidFill>
                  <a:srgbClr val="505468"/>
                </a:solidFill>
                <a:latin typeface="Instrument Sans Semi Bold" pitchFamily="34" charset="0"/>
                <a:ea typeface="Instrument Sans Semi Bold" pitchFamily="34" charset="-122"/>
                <a:cs typeface="Instrument Sans Semi Bold" pitchFamily="34" charset="-120"/>
              </a:rPr>
              <a:t>Structure:</a:t>
            </a:r>
            <a:endParaRPr lang="en-US" sz="2450" dirty="0"/>
          </a:p>
        </p:txBody>
      </p:sp>
      <p:sp>
        <p:nvSpPr>
          <p:cNvPr id="10" name="Text 7"/>
          <p:cNvSpPr/>
          <p:nvPr/>
        </p:nvSpPr>
        <p:spPr>
          <a:xfrm>
            <a:off x="726638" y="6798112"/>
            <a:ext cx="6593443" cy="3321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600"/>
              </a:lnSpc>
              <a:buSzPct val="100000"/>
              <a:buChar char="•"/>
            </a:pPr>
            <a:r>
              <a:rPr lang="en-US" sz="1600" dirty="0">
                <a:solidFill>
                  <a:srgbClr val="5B5F71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Input layer → LSTM layers → Dense output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726638" y="7202924"/>
            <a:ext cx="6593443" cy="3321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600"/>
              </a:lnSpc>
              <a:buSzPct val="100000"/>
              <a:buChar char="•"/>
            </a:pPr>
            <a:r>
              <a:rPr lang="en-US" sz="1600" dirty="0">
                <a:solidFill>
                  <a:srgbClr val="5B5F71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Uses memory cells to remember long-term dependencies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7575" y="469582"/>
            <a:ext cx="8938498" cy="5336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200"/>
              </a:lnSpc>
              <a:buNone/>
            </a:pPr>
            <a:r>
              <a:rPr lang="en-US" sz="3350" dirty="0">
                <a:solidFill>
                  <a:srgbClr val="505468"/>
                </a:solidFill>
                <a:latin typeface="Instrument Sans Semi Bold" pitchFamily="34" charset="0"/>
                <a:ea typeface="Instrument Sans Semi Bold" pitchFamily="34" charset="-122"/>
                <a:cs typeface="Instrument Sans Semi Bold" pitchFamily="34" charset="-120"/>
              </a:rPr>
              <a:t>LSTM Model Implementation &amp; Performance</a:t>
            </a:r>
            <a:endParaRPr lang="en-US" sz="3350" dirty="0"/>
          </a:p>
        </p:txBody>
      </p:sp>
      <p:sp>
        <p:nvSpPr>
          <p:cNvPr id="3" name="Text 1"/>
          <p:cNvSpPr/>
          <p:nvPr/>
        </p:nvSpPr>
        <p:spPr>
          <a:xfrm>
            <a:off x="597575" y="1344692"/>
            <a:ext cx="170736" cy="2133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50"/>
              </a:lnSpc>
              <a:buNone/>
            </a:pPr>
            <a:r>
              <a:rPr lang="en-US" sz="1300" dirty="0">
                <a:solidFill>
                  <a:srgbClr val="5B5F71"/>
                </a:solidFill>
                <a:latin typeface="Instrument Sans Light" pitchFamily="34" charset="0"/>
                <a:ea typeface="Instrument Sans Light" pitchFamily="34" charset="-122"/>
                <a:cs typeface="Instrument Sans Light" pitchFamily="34" charset="-120"/>
              </a:rPr>
              <a:t>01</a:t>
            </a:r>
            <a:endParaRPr lang="en-US" sz="13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7575" y="1611868"/>
            <a:ext cx="4364593" cy="228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97575" y="1742956"/>
            <a:ext cx="2134433" cy="2668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650" dirty="0">
                <a:solidFill>
                  <a:srgbClr val="5B5F71"/>
                </a:solidFill>
                <a:latin typeface="Instrument Sans Semi Bold" pitchFamily="34" charset="0"/>
                <a:ea typeface="Instrument Sans Semi Bold" pitchFamily="34" charset="-122"/>
                <a:cs typeface="Instrument Sans Semi Bold" pitchFamily="34" charset="-120"/>
              </a:rPr>
              <a:t>Data Preparation</a:t>
            </a:r>
            <a:endParaRPr lang="en-US" sz="1650" dirty="0"/>
          </a:p>
        </p:txBody>
      </p:sp>
      <p:sp>
        <p:nvSpPr>
          <p:cNvPr id="6" name="Text 3"/>
          <p:cNvSpPr/>
          <p:nvPr/>
        </p:nvSpPr>
        <p:spPr>
          <a:xfrm>
            <a:off x="597575" y="2112169"/>
            <a:ext cx="4364593" cy="5462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50"/>
              </a:lnSpc>
              <a:buNone/>
            </a:pPr>
            <a:r>
              <a:rPr lang="en-US" sz="1300" dirty="0">
                <a:solidFill>
                  <a:srgbClr val="5B5F71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Data scaled and reshaped to 3D (samples × timesteps × features).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5132903" y="1344692"/>
            <a:ext cx="170736" cy="2133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50"/>
              </a:lnSpc>
              <a:buNone/>
            </a:pPr>
            <a:r>
              <a:rPr lang="en-US" sz="1300" dirty="0">
                <a:solidFill>
                  <a:srgbClr val="5B5F71"/>
                </a:solidFill>
                <a:latin typeface="Instrument Sans Light" pitchFamily="34" charset="0"/>
                <a:ea typeface="Instrument Sans Light" pitchFamily="34" charset="-122"/>
                <a:cs typeface="Instrument Sans Light" pitchFamily="34" charset="-120"/>
              </a:rPr>
              <a:t>02</a:t>
            </a:r>
            <a:endParaRPr lang="en-US" sz="1300" dirty="0"/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32903" y="1627346"/>
            <a:ext cx="4364593" cy="2286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132903" y="1742956"/>
            <a:ext cx="2134433" cy="2668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650" dirty="0">
                <a:solidFill>
                  <a:srgbClr val="5B5F71"/>
                </a:solidFill>
                <a:latin typeface="Instrument Sans Semi Bold" pitchFamily="34" charset="0"/>
                <a:ea typeface="Instrument Sans Semi Bold" pitchFamily="34" charset="-122"/>
                <a:cs typeface="Instrument Sans Semi Bold" pitchFamily="34" charset="-120"/>
              </a:rPr>
              <a:t>Model Architecture</a:t>
            </a:r>
            <a:endParaRPr lang="en-US" sz="1650" dirty="0"/>
          </a:p>
        </p:txBody>
      </p:sp>
      <p:sp>
        <p:nvSpPr>
          <p:cNvPr id="10" name="Text 6"/>
          <p:cNvSpPr/>
          <p:nvPr/>
        </p:nvSpPr>
        <p:spPr>
          <a:xfrm>
            <a:off x="5132903" y="2112169"/>
            <a:ext cx="4364593" cy="27312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50"/>
              </a:lnSpc>
              <a:buNone/>
            </a:pPr>
            <a:r>
              <a:rPr lang="en-US" sz="1300" dirty="0">
                <a:solidFill>
                  <a:srgbClr val="5B5F71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Model built with 2 LSTM layers + Dense output.</a:t>
            </a:r>
            <a:endParaRPr lang="en-US" sz="1300" dirty="0"/>
          </a:p>
        </p:txBody>
      </p:sp>
      <p:sp>
        <p:nvSpPr>
          <p:cNvPr id="11" name="Text 7"/>
          <p:cNvSpPr/>
          <p:nvPr/>
        </p:nvSpPr>
        <p:spPr>
          <a:xfrm>
            <a:off x="9668232" y="1344692"/>
            <a:ext cx="170736" cy="2133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50"/>
              </a:lnSpc>
              <a:buNone/>
            </a:pPr>
            <a:r>
              <a:rPr lang="en-US" sz="1300" dirty="0">
                <a:solidFill>
                  <a:srgbClr val="5B5F71"/>
                </a:solidFill>
                <a:latin typeface="Instrument Sans Light" pitchFamily="34" charset="0"/>
                <a:ea typeface="Instrument Sans Light" pitchFamily="34" charset="-122"/>
                <a:cs typeface="Instrument Sans Light" pitchFamily="34" charset="-120"/>
              </a:rPr>
              <a:t>03</a:t>
            </a:r>
            <a:endParaRPr lang="en-US" sz="1300" dirty="0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68232" y="1627346"/>
            <a:ext cx="4364593" cy="2286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9668232" y="1742956"/>
            <a:ext cx="2134433" cy="2668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650" dirty="0">
                <a:solidFill>
                  <a:srgbClr val="5B5F71"/>
                </a:solidFill>
                <a:latin typeface="Instrument Sans Semi Bold" pitchFamily="34" charset="0"/>
                <a:ea typeface="Instrument Sans Semi Bold" pitchFamily="34" charset="-122"/>
                <a:cs typeface="Instrument Sans Semi Bold" pitchFamily="34" charset="-120"/>
              </a:rPr>
              <a:t>Training</a:t>
            </a:r>
            <a:endParaRPr lang="en-US" sz="1650" dirty="0"/>
          </a:p>
        </p:txBody>
      </p:sp>
      <p:sp>
        <p:nvSpPr>
          <p:cNvPr id="14" name="Text 9"/>
          <p:cNvSpPr/>
          <p:nvPr/>
        </p:nvSpPr>
        <p:spPr>
          <a:xfrm>
            <a:off x="9668232" y="2112169"/>
            <a:ext cx="4364593" cy="27312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50"/>
              </a:lnSpc>
              <a:buNone/>
            </a:pPr>
            <a:r>
              <a:rPr lang="en-US" sz="1300" dirty="0">
                <a:solidFill>
                  <a:srgbClr val="5B5F71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Trained using Adam optimizer and MSE loss.</a:t>
            </a:r>
            <a:endParaRPr lang="en-US" sz="1300" dirty="0"/>
          </a:p>
        </p:txBody>
      </p:sp>
      <p:sp>
        <p:nvSpPr>
          <p:cNvPr id="15" name="Text 10"/>
          <p:cNvSpPr/>
          <p:nvPr/>
        </p:nvSpPr>
        <p:spPr>
          <a:xfrm>
            <a:off x="597575" y="3042523"/>
            <a:ext cx="3415189" cy="4268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350"/>
              </a:lnSpc>
              <a:buNone/>
            </a:pPr>
            <a:r>
              <a:rPr lang="en-US" sz="2650" dirty="0">
                <a:solidFill>
                  <a:srgbClr val="505468"/>
                </a:solidFill>
                <a:latin typeface="Instrument Sans Semi Bold" pitchFamily="34" charset="0"/>
                <a:ea typeface="Instrument Sans Semi Bold" pitchFamily="34" charset="-122"/>
                <a:cs typeface="Instrument Sans Semi Bold" pitchFamily="34" charset="-120"/>
              </a:rPr>
              <a:t>Results:</a:t>
            </a:r>
            <a:endParaRPr lang="en-US" sz="2650" dirty="0"/>
          </a:p>
        </p:txBody>
      </p:sp>
      <p:sp>
        <p:nvSpPr>
          <p:cNvPr id="16" name="Text 11"/>
          <p:cNvSpPr/>
          <p:nvPr/>
        </p:nvSpPr>
        <p:spPr>
          <a:xfrm>
            <a:off x="597575" y="3810833"/>
            <a:ext cx="3198733" cy="5634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4400"/>
              </a:lnSpc>
              <a:buNone/>
            </a:pPr>
            <a:r>
              <a:rPr lang="en-US" sz="4400" dirty="0">
                <a:solidFill>
                  <a:srgbClr val="5B5F71"/>
                </a:solidFill>
                <a:latin typeface="Instrument Sans Semi Bold" pitchFamily="34" charset="0"/>
                <a:ea typeface="Instrument Sans Semi Bold" pitchFamily="34" charset="-122"/>
                <a:cs typeface="Instrument Sans Semi Bold" pitchFamily="34" charset="-120"/>
              </a:rPr>
              <a:t>566.009</a:t>
            </a:r>
            <a:endParaRPr lang="en-US" sz="4400" dirty="0"/>
          </a:p>
        </p:txBody>
      </p:sp>
      <p:sp>
        <p:nvSpPr>
          <p:cNvPr id="17" name="Text 12"/>
          <p:cNvSpPr/>
          <p:nvPr/>
        </p:nvSpPr>
        <p:spPr>
          <a:xfrm>
            <a:off x="1129665" y="4587597"/>
            <a:ext cx="2134433" cy="2668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650" dirty="0">
                <a:solidFill>
                  <a:srgbClr val="5B5F71"/>
                </a:solidFill>
                <a:latin typeface="Instrument Sans Semi Bold" pitchFamily="34" charset="0"/>
                <a:ea typeface="Instrument Sans Semi Bold" pitchFamily="34" charset="-122"/>
                <a:cs typeface="Instrument Sans Semi Bold" pitchFamily="34" charset="-120"/>
              </a:rPr>
              <a:t>MSE</a:t>
            </a:r>
            <a:endParaRPr lang="en-US" sz="1650" dirty="0"/>
          </a:p>
        </p:txBody>
      </p:sp>
      <p:sp>
        <p:nvSpPr>
          <p:cNvPr id="18" name="Text 13"/>
          <p:cNvSpPr/>
          <p:nvPr/>
        </p:nvSpPr>
        <p:spPr>
          <a:xfrm>
            <a:off x="4009668" y="3810833"/>
            <a:ext cx="3198852" cy="5634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4400"/>
              </a:lnSpc>
              <a:buNone/>
            </a:pPr>
            <a:r>
              <a:rPr lang="en-US" sz="4400" dirty="0">
                <a:solidFill>
                  <a:srgbClr val="5B5F71"/>
                </a:solidFill>
                <a:latin typeface="Instrument Sans Semi Bold" pitchFamily="34" charset="0"/>
                <a:ea typeface="Instrument Sans Semi Bold" pitchFamily="34" charset="-122"/>
                <a:cs typeface="Instrument Sans Semi Bold" pitchFamily="34" charset="-120"/>
              </a:rPr>
              <a:t>23.790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4541877" y="4587597"/>
            <a:ext cx="2134433" cy="2668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650" dirty="0">
                <a:solidFill>
                  <a:srgbClr val="5B5F71"/>
                </a:solidFill>
                <a:latin typeface="Instrument Sans Semi Bold" pitchFamily="34" charset="0"/>
                <a:ea typeface="Instrument Sans Semi Bold" pitchFamily="34" charset="-122"/>
                <a:cs typeface="Instrument Sans Semi Bold" pitchFamily="34" charset="-120"/>
              </a:rPr>
              <a:t>RMSE</a:t>
            </a:r>
            <a:endParaRPr lang="en-US" sz="1650" dirty="0"/>
          </a:p>
        </p:txBody>
      </p:sp>
      <p:sp>
        <p:nvSpPr>
          <p:cNvPr id="20" name="Text 15"/>
          <p:cNvSpPr/>
          <p:nvPr/>
        </p:nvSpPr>
        <p:spPr>
          <a:xfrm>
            <a:off x="7421880" y="3810833"/>
            <a:ext cx="3198733" cy="5634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4400"/>
              </a:lnSpc>
              <a:buNone/>
            </a:pPr>
            <a:r>
              <a:rPr lang="en-US" sz="4400" dirty="0">
                <a:solidFill>
                  <a:srgbClr val="5B5F71"/>
                </a:solidFill>
                <a:latin typeface="Instrument Sans Semi Bold" pitchFamily="34" charset="0"/>
                <a:ea typeface="Instrument Sans Semi Bold" pitchFamily="34" charset="-122"/>
                <a:cs typeface="Instrument Sans Semi Bold" pitchFamily="34" charset="-120"/>
              </a:rPr>
              <a:t>20.418</a:t>
            </a:r>
            <a:endParaRPr lang="en-US" sz="4400" dirty="0"/>
          </a:p>
        </p:txBody>
      </p:sp>
      <p:sp>
        <p:nvSpPr>
          <p:cNvPr id="21" name="Text 16"/>
          <p:cNvSpPr/>
          <p:nvPr/>
        </p:nvSpPr>
        <p:spPr>
          <a:xfrm>
            <a:off x="7953970" y="4587597"/>
            <a:ext cx="2134433" cy="2668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650" dirty="0">
                <a:solidFill>
                  <a:srgbClr val="5B5F71"/>
                </a:solidFill>
                <a:latin typeface="Instrument Sans Semi Bold" pitchFamily="34" charset="0"/>
                <a:ea typeface="Instrument Sans Semi Bold" pitchFamily="34" charset="-122"/>
                <a:cs typeface="Instrument Sans Semi Bold" pitchFamily="34" charset="-120"/>
              </a:rPr>
              <a:t>MAE</a:t>
            </a:r>
            <a:endParaRPr lang="en-US" sz="1650" dirty="0"/>
          </a:p>
        </p:txBody>
      </p:sp>
      <p:sp>
        <p:nvSpPr>
          <p:cNvPr id="22" name="Text 17"/>
          <p:cNvSpPr/>
          <p:nvPr/>
        </p:nvSpPr>
        <p:spPr>
          <a:xfrm>
            <a:off x="10833973" y="3810833"/>
            <a:ext cx="3198852" cy="5634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4400"/>
              </a:lnSpc>
              <a:buNone/>
            </a:pPr>
            <a:r>
              <a:rPr lang="en-US" sz="4400" dirty="0">
                <a:solidFill>
                  <a:srgbClr val="5B5F71"/>
                </a:solidFill>
                <a:latin typeface="Instrument Sans Semi Bold" pitchFamily="34" charset="0"/>
                <a:ea typeface="Instrument Sans Semi Bold" pitchFamily="34" charset="-122"/>
                <a:cs typeface="Instrument Sans Semi Bold" pitchFamily="34" charset="-120"/>
              </a:rPr>
              <a:t>36.90%</a:t>
            </a:r>
            <a:endParaRPr lang="en-US" sz="4400" dirty="0"/>
          </a:p>
        </p:txBody>
      </p:sp>
      <p:sp>
        <p:nvSpPr>
          <p:cNvPr id="23" name="Text 18"/>
          <p:cNvSpPr/>
          <p:nvPr/>
        </p:nvSpPr>
        <p:spPr>
          <a:xfrm>
            <a:off x="11366183" y="4587597"/>
            <a:ext cx="2134433" cy="2668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650" dirty="0">
                <a:solidFill>
                  <a:srgbClr val="5B5F71"/>
                </a:solidFill>
                <a:latin typeface="Instrument Sans Semi Bold" pitchFamily="34" charset="0"/>
                <a:ea typeface="Instrument Sans Semi Bold" pitchFamily="34" charset="-122"/>
                <a:cs typeface="Instrument Sans Semi Bold" pitchFamily="34" charset="-120"/>
              </a:rPr>
              <a:t>MAPE</a:t>
            </a:r>
            <a:endParaRPr lang="en-US" sz="1650" dirty="0"/>
          </a:p>
        </p:txBody>
      </p:sp>
      <p:sp>
        <p:nvSpPr>
          <p:cNvPr id="24" name="Text 19"/>
          <p:cNvSpPr/>
          <p:nvPr/>
        </p:nvSpPr>
        <p:spPr>
          <a:xfrm>
            <a:off x="5715714" y="5281255"/>
            <a:ext cx="3198852" cy="5634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4400"/>
              </a:lnSpc>
              <a:buNone/>
            </a:pPr>
            <a:r>
              <a:rPr lang="en-US" sz="4400" dirty="0">
                <a:solidFill>
                  <a:srgbClr val="5B5F71"/>
                </a:solidFill>
                <a:latin typeface="Instrument Sans Semi Bold" pitchFamily="34" charset="0"/>
                <a:ea typeface="Instrument Sans Semi Bold" pitchFamily="34" charset="-122"/>
                <a:cs typeface="Instrument Sans Semi Bold" pitchFamily="34" charset="-120"/>
              </a:rPr>
              <a:t>-0.0287</a:t>
            </a:r>
            <a:endParaRPr lang="en-US" sz="4400" dirty="0"/>
          </a:p>
        </p:txBody>
      </p:sp>
      <p:sp>
        <p:nvSpPr>
          <p:cNvPr id="25" name="Text 20"/>
          <p:cNvSpPr/>
          <p:nvPr/>
        </p:nvSpPr>
        <p:spPr>
          <a:xfrm>
            <a:off x="6247924" y="6058019"/>
            <a:ext cx="2134433" cy="2668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650" dirty="0">
                <a:solidFill>
                  <a:srgbClr val="5B5F71"/>
                </a:solidFill>
                <a:latin typeface="Instrument Sans Semi Bold" pitchFamily="34" charset="0"/>
                <a:ea typeface="Instrument Sans Semi Bold" pitchFamily="34" charset="-122"/>
                <a:cs typeface="Instrument Sans Semi Bold" pitchFamily="34" charset="-120"/>
              </a:rPr>
              <a:t>R²</a:t>
            </a:r>
            <a:endParaRPr lang="en-US" sz="1650" dirty="0"/>
          </a:p>
        </p:txBody>
      </p:sp>
      <p:sp>
        <p:nvSpPr>
          <p:cNvPr id="26" name="Text 21"/>
          <p:cNvSpPr/>
          <p:nvPr/>
        </p:nvSpPr>
        <p:spPr>
          <a:xfrm>
            <a:off x="597575" y="6580942"/>
            <a:ext cx="2561392" cy="3200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505468"/>
                </a:solidFill>
                <a:latin typeface="Instrument Sans Semi Bold" pitchFamily="34" charset="0"/>
                <a:ea typeface="Instrument Sans Semi Bold" pitchFamily="34" charset="-122"/>
                <a:cs typeface="Instrument Sans Semi Bold" pitchFamily="34" charset="-120"/>
              </a:rPr>
              <a:t>Inference:</a:t>
            </a:r>
            <a:endParaRPr lang="en-US" sz="2000" dirty="0"/>
          </a:p>
        </p:txBody>
      </p:sp>
      <p:sp>
        <p:nvSpPr>
          <p:cNvPr id="27" name="Text 22"/>
          <p:cNvSpPr/>
          <p:nvPr/>
        </p:nvSpPr>
        <p:spPr>
          <a:xfrm>
            <a:off x="597575" y="7157085"/>
            <a:ext cx="13435251" cy="27312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150"/>
              </a:lnSpc>
              <a:buSzPct val="100000"/>
              <a:buChar char="•"/>
            </a:pPr>
            <a:r>
              <a:rPr lang="en-US" sz="1300" dirty="0">
                <a:solidFill>
                  <a:srgbClr val="5B5F71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Model learned short-term patterns well</a:t>
            </a:r>
            <a:endParaRPr lang="en-US" sz="1300" dirty="0"/>
          </a:p>
        </p:txBody>
      </p:sp>
      <p:sp>
        <p:nvSpPr>
          <p:cNvPr id="28" name="Text 23"/>
          <p:cNvSpPr/>
          <p:nvPr/>
        </p:nvSpPr>
        <p:spPr>
          <a:xfrm>
            <a:off x="597575" y="7489865"/>
            <a:ext cx="13435251" cy="27312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150"/>
              </a:lnSpc>
              <a:buSzPct val="100000"/>
              <a:buChar char="•"/>
            </a:pPr>
            <a:r>
              <a:rPr lang="en-US" sz="1300" dirty="0">
                <a:solidFill>
                  <a:srgbClr val="5B5F71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However, struggled to generalize (negative R²) → possible underfitting or scaling issue</a:t>
            </a:r>
            <a:endParaRPr lang="en-US" sz="1300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29" name="Ink 28">
                <a:extLst>
                  <a:ext uri="{FF2B5EF4-FFF2-40B4-BE49-F238E27FC236}">
                    <a16:creationId xmlns:a16="http://schemas.microsoft.com/office/drawing/2014/main" id="{E2C08CB7-EA21-8A88-F5B4-1510A22A4316}"/>
                  </a:ext>
                </a:extLst>
              </p14:cNvPr>
              <p14:cNvContentPartPr/>
              <p14:nvPr/>
            </p14:nvContentPartPr>
            <p14:xfrm>
              <a:off x="12863765" y="7875475"/>
              <a:ext cx="1580400" cy="11520"/>
            </p14:xfrm>
          </p:contentPart>
        </mc:Choice>
        <mc:Fallback xmlns="">
          <p:pic>
            <p:nvPicPr>
              <p:cNvPr id="29" name="Ink 28">
                <a:extLst>
                  <a:ext uri="{FF2B5EF4-FFF2-40B4-BE49-F238E27FC236}">
                    <a16:creationId xmlns:a16="http://schemas.microsoft.com/office/drawing/2014/main" id="{E2C08CB7-EA21-8A88-F5B4-1510A22A4316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2801125" y="7812475"/>
                <a:ext cx="1706040" cy="137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31" name="Ink 30">
                <a:extLst>
                  <a:ext uri="{FF2B5EF4-FFF2-40B4-BE49-F238E27FC236}">
                    <a16:creationId xmlns:a16="http://schemas.microsoft.com/office/drawing/2014/main" id="{969F9FD0-8792-B18F-2019-5BDB32611EB6}"/>
                  </a:ext>
                </a:extLst>
              </p14:cNvPr>
              <p14:cNvContentPartPr/>
              <p14:nvPr/>
            </p14:nvContentPartPr>
            <p14:xfrm>
              <a:off x="12884645" y="8052955"/>
              <a:ext cx="1498320" cy="720"/>
            </p14:xfrm>
          </p:contentPart>
        </mc:Choice>
        <mc:Fallback xmlns="">
          <p:pic>
            <p:nvPicPr>
              <p:cNvPr id="31" name="Ink 30">
                <a:extLst>
                  <a:ext uri="{FF2B5EF4-FFF2-40B4-BE49-F238E27FC236}">
                    <a16:creationId xmlns:a16="http://schemas.microsoft.com/office/drawing/2014/main" id="{969F9FD0-8792-B18F-2019-5BDB32611EB6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12821645" y="7926955"/>
                <a:ext cx="1623960" cy="252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32" name="Ink 31">
                <a:extLst>
                  <a:ext uri="{FF2B5EF4-FFF2-40B4-BE49-F238E27FC236}">
                    <a16:creationId xmlns:a16="http://schemas.microsoft.com/office/drawing/2014/main" id="{A37A54A7-31DA-25CC-5D70-B79EC775B626}"/>
                  </a:ext>
                </a:extLst>
              </p14:cNvPr>
              <p14:cNvContentPartPr/>
              <p14:nvPr/>
            </p14:nvContentPartPr>
            <p14:xfrm>
              <a:off x="13590965" y="7947835"/>
              <a:ext cx="832320" cy="22320"/>
            </p14:xfrm>
          </p:contentPart>
        </mc:Choice>
        <mc:Fallback xmlns="">
          <p:pic>
            <p:nvPicPr>
              <p:cNvPr id="32" name="Ink 31">
                <a:extLst>
                  <a:ext uri="{FF2B5EF4-FFF2-40B4-BE49-F238E27FC236}">
                    <a16:creationId xmlns:a16="http://schemas.microsoft.com/office/drawing/2014/main" id="{A37A54A7-31DA-25CC-5D70-B79EC775B626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13528325" y="7885195"/>
                <a:ext cx="957960" cy="14796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1501021"/>
            <a:ext cx="13042821" cy="14175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dirty="0">
                <a:solidFill>
                  <a:srgbClr val="505468"/>
                </a:solidFill>
                <a:latin typeface="Instrument Sans Semi Bold" pitchFamily="34" charset="0"/>
                <a:ea typeface="Instrument Sans Semi Bold" pitchFamily="34" charset="-122"/>
                <a:cs typeface="Instrument Sans Semi Bold" pitchFamily="34" charset="-120"/>
              </a:rPr>
              <a:t>XGBoost: Gradient Boosting for Tabular Prediction</a:t>
            </a:r>
            <a:endParaRPr lang="en-US" sz="4450" dirty="0"/>
          </a:p>
        </p:txBody>
      </p:sp>
      <p:sp>
        <p:nvSpPr>
          <p:cNvPr id="3" name="Text 1"/>
          <p:cNvSpPr/>
          <p:nvPr/>
        </p:nvSpPr>
        <p:spPr>
          <a:xfrm>
            <a:off x="793790" y="3372207"/>
            <a:ext cx="13042821" cy="4535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550"/>
              </a:lnSpc>
              <a:buNone/>
            </a:pPr>
            <a:r>
              <a:rPr lang="en-US" sz="2200" b="1" dirty="0">
                <a:solidFill>
                  <a:srgbClr val="5B5F71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XGBoost</a:t>
            </a:r>
            <a:r>
              <a:rPr lang="en-US" sz="2200" dirty="0">
                <a:solidFill>
                  <a:srgbClr val="5B5F71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 stands for </a:t>
            </a:r>
            <a:r>
              <a:rPr lang="en-US" sz="2200" i="1" dirty="0">
                <a:solidFill>
                  <a:srgbClr val="5B5F71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Extreme Gradient Boosting</a:t>
            </a:r>
            <a:r>
              <a:rPr lang="en-US" sz="2200" dirty="0">
                <a:solidFill>
                  <a:srgbClr val="5B5F71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.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793790" y="4307681"/>
            <a:ext cx="3402330" cy="425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300"/>
              </a:lnSpc>
              <a:buNone/>
            </a:pPr>
            <a:r>
              <a:rPr lang="en-US" sz="2650" dirty="0">
                <a:solidFill>
                  <a:srgbClr val="505468"/>
                </a:solidFill>
                <a:latin typeface="Instrument Sans Semi Bold" pitchFamily="34" charset="0"/>
                <a:ea typeface="Instrument Sans Semi Bold" pitchFamily="34" charset="-122"/>
                <a:cs typeface="Instrument Sans Semi Bold" pitchFamily="34" charset="-120"/>
              </a:rPr>
              <a:t>Why XGBoost?</a:t>
            </a:r>
            <a:endParaRPr lang="en-US" sz="2650" dirty="0"/>
          </a:p>
        </p:txBody>
      </p:sp>
      <p:sp>
        <p:nvSpPr>
          <p:cNvPr id="5" name="Text 3"/>
          <p:cNvSpPr/>
          <p:nvPr/>
        </p:nvSpPr>
        <p:spPr>
          <a:xfrm>
            <a:off x="793790" y="4959787"/>
            <a:ext cx="6244709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5B5F71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Handles non-linear relationships effectively.</a:t>
            </a:r>
            <a:endParaRPr lang="en-US" sz="1750" dirty="0"/>
          </a:p>
        </p:txBody>
      </p:sp>
      <p:sp>
        <p:nvSpPr>
          <p:cNvPr id="6" name="Text 4"/>
          <p:cNvSpPr/>
          <p:nvPr/>
        </p:nvSpPr>
        <p:spPr>
          <a:xfrm>
            <a:off x="793790" y="5401985"/>
            <a:ext cx="6244709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5B5F71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Robust to missing values &amp; outliers.</a:t>
            </a:r>
            <a:endParaRPr lang="en-US" sz="1750" dirty="0"/>
          </a:p>
        </p:txBody>
      </p:sp>
      <p:sp>
        <p:nvSpPr>
          <p:cNvPr id="7" name="Text 5"/>
          <p:cNvSpPr/>
          <p:nvPr/>
        </p:nvSpPr>
        <p:spPr>
          <a:xfrm>
            <a:off x="793790" y="5844183"/>
            <a:ext cx="6244709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5B5F71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Uses </a:t>
            </a:r>
            <a:r>
              <a:rPr lang="en-US" sz="1750" b="1" dirty="0">
                <a:solidFill>
                  <a:srgbClr val="5B5F71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feature importance</a:t>
            </a:r>
            <a:r>
              <a:rPr lang="en-US" sz="1750" dirty="0">
                <a:solidFill>
                  <a:srgbClr val="5B5F71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 for explainability.</a:t>
            </a:r>
            <a:endParaRPr lang="en-US" sz="1750" dirty="0"/>
          </a:p>
        </p:txBody>
      </p:sp>
      <p:sp>
        <p:nvSpPr>
          <p:cNvPr id="8" name="Text 6"/>
          <p:cNvSpPr/>
          <p:nvPr/>
        </p:nvSpPr>
        <p:spPr>
          <a:xfrm>
            <a:off x="793790" y="6286381"/>
            <a:ext cx="6244709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5B5F71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Faster training compared to deep learning.</a:t>
            </a:r>
            <a:endParaRPr lang="en-US" sz="1750" dirty="0"/>
          </a:p>
        </p:txBody>
      </p:sp>
      <p:sp>
        <p:nvSpPr>
          <p:cNvPr id="9" name="Text 7"/>
          <p:cNvSpPr/>
          <p:nvPr/>
        </p:nvSpPr>
        <p:spPr>
          <a:xfrm>
            <a:off x="7599521" y="4307681"/>
            <a:ext cx="3402330" cy="425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300"/>
              </a:lnSpc>
              <a:buNone/>
            </a:pPr>
            <a:r>
              <a:rPr lang="en-US" sz="2650" dirty="0">
                <a:solidFill>
                  <a:srgbClr val="505468"/>
                </a:solidFill>
                <a:latin typeface="Instrument Sans Semi Bold" pitchFamily="34" charset="0"/>
                <a:ea typeface="Instrument Sans Semi Bold" pitchFamily="34" charset="-122"/>
                <a:cs typeface="Instrument Sans Semi Bold" pitchFamily="34" charset="-120"/>
              </a:rPr>
              <a:t>Feature Engineering:</a:t>
            </a:r>
            <a:endParaRPr lang="en-US" sz="2650" dirty="0"/>
          </a:p>
        </p:txBody>
      </p:sp>
      <p:sp>
        <p:nvSpPr>
          <p:cNvPr id="10" name="Text 8"/>
          <p:cNvSpPr/>
          <p:nvPr/>
        </p:nvSpPr>
        <p:spPr>
          <a:xfrm>
            <a:off x="7599521" y="4959787"/>
            <a:ext cx="6244709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5B5F71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Added lag &amp; rolling mean features (traffic trends).</a:t>
            </a:r>
            <a:endParaRPr lang="en-US" sz="1750" dirty="0"/>
          </a:p>
        </p:txBody>
      </p:sp>
      <p:sp>
        <p:nvSpPr>
          <p:cNvPr id="11" name="Text 9"/>
          <p:cNvSpPr/>
          <p:nvPr/>
        </p:nvSpPr>
        <p:spPr>
          <a:xfrm>
            <a:off x="7599521" y="5401985"/>
            <a:ext cx="6244709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5B5F71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Time features (hour, day, month, weekend).</a:t>
            </a:r>
            <a:endParaRPr lang="en-US" sz="1750" dirty="0"/>
          </a:p>
        </p:txBody>
      </p:sp>
      <p:sp>
        <p:nvSpPr>
          <p:cNvPr id="12" name="Text 10"/>
          <p:cNvSpPr/>
          <p:nvPr/>
        </p:nvSpPr>
        <p:spPr>
          <a:xfrm>
            <a:off x="7599521" y="5844183"/>
            <a:ext cx="6244709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5B5F71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Encoded weather and incidents.</a:t>
            </a:r>
            <a:endParaRPr lang="en-US" sz="1750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13" name="Ink 12">
                <a:extLst>
                  <a:ext uri="{FF2B5EF4-FFF2-40B4-BE49-F238E27FC236}">
                    <a16:creationId xmlns:a16="http://schemas.microsoft.com/office/drawing/2014/main" id="{DD4DE1A9-CC2C-0B9C-AC27-B6AFE4AAD886}"/>
                  </a:ext>
                </a:extLst>
              </p14:cNvPr>
              <p14:cNvContentPartPr/>
              <p14:nvPr/>
            </p14:nvContentPartPr>
            <p14:xfrm>
              <a:off x="12946925" y="7854595"/>
              <a:ext cx="1476360" cy="21960"/>
            </p14:xfrm>
          </p:contentPart>
        </mc:Choice>
        <mc:Fallback xmlns="">
          <p:pic>
            <p:nvPicPr>
              <p:cNvPr id="13" name="Ink 12">
                <a:extLst>
                  <a:ext uri="{FF2B5EF4-FFF2-40B4-BE49-F238E27FC236}">
                    <a16:creationId xmlns:a16="http://schemas.microsoft.com/office/drawing/2014/main" id="{DD4DE1A9-CC2C-0B9C-AC27-B6AFE4AAD886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2883925" y="7791955"/>
                <a:ext cx="1602000" cy="147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14" name="Ink 13">
                <a:extLst>
                  <a:ext uri="{FF2B5EF4-FFF2-40B4-BE49-F238E27FC236}">
                    <a16:creationId xmlns:a16="http://schemas.microsoft.com/office/drawing/2014/main" id="{A989A9B2-42CB-CCAF-B7AF-4650BCD6FE0D}"/>
                  </a:ext>
                </a:extLst>
              </p14:cNvPr>
              <p14:cNvContentPartPr/>
              <p14:nvPr/>
            </p14:nvContentPartPr>
            <p14:xfrm>
              <a:off x="12842885" y="7979515"/>
              <a:ext cx="1580400" cy="32040"/>
            </p14:xfrm>
          </p:contentPart>
        </mc:Choice>
        <mc:Fallback xmlns="">
          <p:pic>
            <p:nvPicPr>
              <p:cNvPr id="14" name="Ink 13">
                <a:extLst>
                  <a:ext uri="{FF2B5EF4-FFF2-40B4-BE49-F238E27FC236}">
                    <a16:creationId xmlns:a16="http://schemas.microsoft.com/office/drawing/2014/main" id="{A989A9B2-42CB-CCAF-B7AF-4650BCD6FE0D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12779885" y="7916515"/>
                <a:ext cx="1706040" cy="157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15" name="Ink 14">
                <a:extLst>
                  <a:ext uri="{FF2B5EF4-FFF2-40B4-BE49-F238E27FC236}">
                    <a16:creationId xmlns:a16="http://schemas.microsoft.com/office/drawing/2014/main" id="{9784C06C-9E6D-8C3E-A1E8-F9C501A04CB0}"/>
                  </a:ext>
                </a:extLst>
              </p14:cNvPr>
              <p14:cNvContentPartPr/>
              <p14:nvPr/>
            </p14:nvContentPartPr>
            <p14:xfrm>
              <a:off x="13238165" y="8019115"/>
              <a:ext cx="1175040" cy="65520"/>
            </p14:xfrm>
          </p:contentPart>
        </mc:Choice>
        <mc:Fallback xmlns="">
          <p:pic>
            <p:nvPicPr>
              <p:cNvPr id="15" name="Ink 14">
                <a:extLst>
                  <a:ext uri="{FF2B5EF4-FFF2-40B4-BE49-F238E27FC236}">
                    <a16:creationId xmlns:a16="http://schemas.microsoft.com/office/drawing/2014/main" id="{9784C06C-9E6D-8C3E-A1E8-F9C501A04CB0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13175165" y="7956475"/>
                <a:ext cx="1300680" cy="19116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4370" y="530304"/>
            <a:ext cx="10986016" cy="6020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700"/>
              </a:lnSpc>
              <a:buNone/>
            </a:pPr>
            <a:r>
              <a:rPr lang="en-US" sz="3750" dirty="0">
                <a:solidFill>
                  <a:srgbClr val="505468"/>
                </a:solidFill>
                <a:latin typeface="Instrument Sans Semi Bold" pitchFamily="34" charset="0"/>
                <a:ea typeface="Instrument Sans Semi Bold" pitchFamily="34" charset="-122"/>
                <a:cs typeface="Instrument Sans Semi Bold" pitchFamily="34" charset="-120"/>
              </a:rPr>
              <a:t>XGBoost Implementation &amp; Comparative Results</a:t>
            </a:r>
            <a:endParaRPr lang="en-US" sz="375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4370" y="1517690"/>
            <a:ext cx="4427220" cy="77069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67013" y="2481024"/>
            <a:ext cx="2408515" cy="3009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50"/>
              </a:lnSpc>
              <a:buNone/>
            </a:pPr>
            <a:r>
              <a:rPr lang="en-US" sz="1850" dirty="0">
                <a:solidFill>
                  <a:srgbClr val="5B5F71"/>
                </a:solidFill>
                <a:latin typeface="Instrument Sans Semi Bold" pitchFamily="34" charset="0"/>
                <a:ea typeface="Instrument Sans Semi Bold" pitchFamily="34" charset="-122"/>
                <a:cs typeface="Instrument Sans Semi Bold" pitchFamily="34" charset="-120"/>
              </a:rPr>
              <a:t>Feature Engineering</a:t>
            </a:r>
            <a:endParaRPr lang="en-US" sz="1850" dirty="0"/>
          </a:p>
        </p:txBody>
      </p:sp>
      <p:sp>
        <p:nvSpPr>
          <p:cNvPr id="5" name="Text 2"/>
          <p:cNvSpPr/>
          <p:nvPr/>
        </p:nvSpPr>
        <p:spPr>
          <a:xfrm>
            <a:off x="867013" y="2897624"/>
            <a:ext cx="4041934" cy="3081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500" dirty="0">
                <a:solidFill>
                  <a:srgbClr val="5B5F71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Used engineered tabular features.</a:t>
            </a:r>
            <a:endParaRPr lang="en-US" sz="1500" dirty="0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01590" y="1517690"/>
            <a:ext cx="4427220" cy="770692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5294233" y="2481024"/>
            <a:ext cx="2408515" cy="3009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50"/>
              </a:lnSpc>
              <a:buNone/>
            </a:pPr>
            <a:r>
              <a:rPr lang="en-US" sz="1850" dirty="0">
                <a:solidFill>
                  <a:srgbClr val="5B5F71"/>
                </a:solidFill>
                <a:latin typeface="Instrument Sans Semi Bold" pitchFamily="34" charset="0"/>
                <a:ea typeface="Instrument Sans Semi Bold" pitchFamily="34" charset="-122"/>
                <a:cs typeface="Instrument Sans Semi Bold" pitchFamily="34" charset="-120"/>
              </a:rPr>
              <a:t>Training Setup</a:t>
            </a:r>
            <a:endParaRPr lang="en-US" sz="1850" dirty="0"/>
          </a:p>
        </p:txBody>
      </p:sp>
      <p:sp>
        <p:nvSpPr>
          <p:cNvPr id="8" name="Text 4"/>
          <p:cNvSpPr/>
          <p:nvPr/>
        </p:nvSpPr>
        <p:spPr>
          <a:xfrm>
            <a:off x="5294233" y="2897624"/>
            <a:ext cx="4041934" cy="616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500" dirty="0">
                <a:solidFill>
                  <a:srgbClr val="5B5F71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Trained with 500 boosting rounds, early stopping, and RMSE evaluation.</a:t>
            </a:r>
            <a:endParaRPr lang="en-US" sz="1500" dirty="0"/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28810" y="1517690"/>
            <a:ext cx="4427220" cy="770692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9721453" y="2481024"/>
            <a:ext cx="2408515" cy="3009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50"/>
              </a:lnSpc>
              <a:buNone/>
            </a:pPr>
            <a:r>
              <a:rPr lang="en-US" sz="1850" dirty="0">
                <a:solidFill>
                  <a:srgbClr val="5B5F71"/>
                </a:solidFill>
                <a:latin typeface="Instrument Sans Semi Bold" pitchFamily="34" charset="0"/>
                <a:ea typeface="Instrument Sans Semi Bold" pitchFamily="34" charset="-122"/>
                <a:cs typeface="Instrument Sans Semi Bold" pitchFamily="34" charset="-120"/>
              </a:rPr>
              <a:t>Implementation</a:t>
            </a:r>
            <a:endParaRPr lang="en-US" sz="1850" dirty="0"/>
          </a:p>
        </p:txBody>
      </p:sp>
      <p:sp>
        <p:nvSpPr>
          <p:cNvPr id="11" name="Text 6"/>
          <p:cNvSpPr/>
          <p:nvPr/>
        </p:nvSpPr>
        <p:spPr>
          <a:xfrm>
            <a:off x="9721453" y="2897624"/>
            <a:ext cx="4041934" cy="3081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500" dirty="0">
                <a:solidFill>
                  <a:srgbClr val="5B5F71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Used xgb.train() for advanced control.</a:t>
            </a:r>
            <a:endParaRPr lang="en-US" sz="1500" dirty="0"/>
          </a:p>
        </p:txBody>
      </p:sp>
      <p:sp>
        <p:nvSpPr>
          <p:cNvPr id="12" name="Text 7"/>
          <p:cNvSpPr/>
          <p:nvPr/>
        </p:nvSpPr>
        <p:spPr>
          <a:xfrm>
            <a:off x="674370" y="3995499"/>
            <a:ext cx="3853696" cy="4817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750"/>
              </a:lnSpc>
              <a:buNone/>
            </a:pPr>
            <a:r>
              <a:rPr lang="en-US" sz="3000" dirty="0">
                <a:solidFill>
                  <a:srgbClr val="505468"/>
                </a:solidFill>
                <a:latin typeface="Instrument Sans Semi Bold" pitchFamily="34" charset="0"/>
                <a:ea typeface="Instrument Sans Semi Bold" pitchFamily="34" charset="-122"/>
                <a:cs typeface="Instrument Sans Semi Bold" pitchFamily="34" charset="-120"/>
              </a:rPr>
              <a:t>Results:</a:t>
            </a:r>
            <a:endParaRPr lang="en-US" sz="3000" dirty="0"/>
          </a:p>
        </p:txBody>
      </p:sp>
      <p:sp>
        <p:nvSpPr>
          <p:cNvPr id="13" name="Text 8"/>
          <p:cNvSpPr/>
          <p:nvPr/>
        </p:nvSpPr>
        <p:spPr>
          <a:xfrm>
            <a:off x="674370" y="4862512"/>
            <a:ext cx="3139797" cy="6357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5000"/>
              </a:lnSpc>
              <a:buNone/>
            </a:pPr>
            <a:r>
              <a:rPr lang="en-US" sz="5000" dirty="0">
                <a:solidFill>
                  <a:srgbClr val="5B5F71"/>
                </a:solidFill>
                <a:latin typeface="Instrument Sans Semi Bold" pitchFamily="34" charset="0"/>
                <a:ea typeface="Instrument Sans Semi Bold" pitchFamily="34" charset="-122"/>
                <a:cs typeface="Instrument Sans Semi Bold" pitchFamily="34" charset="-120"/>
              </a:rPr>
              <a:t>0.2760</a:t>
            </a:r>
            <a:endParaRPr lang="en-US" sz="5000" dirty="0"/>
          </a:p>
        </p:txBody>
      </p:sp>
      <p:sp>
        <p:nvSpPr>
          <p:cNvPr id="14" name="Text 9"/>
          <p:cNvSpPr/>
          <p:nvPr/>
        </p:nvSpPr>
        <p:spPr>
          <a:xfrm>
            <a:off x="1040011" y="5739051"/>
            <a:ext cx="2408515" cy="3009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350"/>
              </a:lnSpc>
              <a:buNone/>
            </a:pPr>
            <a:r>
              <a:rPr lang="en-US" sz="1850" dirty="0">
                <a:solidFill>
                  <a:srgbClr val="5B5F71"/>
                </a:solidFill>
                <a:latin typeface="Instrument Sans Semi Bold" pitchFamily="34" charset="0"/>
                <a:ea typeface="Instrument Sans Semi Bold" pitchFamily="34" charset="-122"/>
                <a:cs typeface="Instrument Sans Semi Bold" pitchFamily="34" charset="-120"/>
              </a:rPr>
              <a:t>MSE</a:t>
            </a:r>
            <a:endParaRPr lang="en-US" sz="1850" dirty="0"/>
          </a:p>
        </p:txBody>
      </p:sp>
      <p:sp>
        <p:nvSpPr>
          <p:cNvPr id="15" name="Text 10"/>
          <p:cNvSpPr/>
          <p:nvPr/>
        </p:nvSpPr>
        <p:spPr>
          <a:xfrm>
            <a:off x="4054912" y="4862512"/>
            <a:ext cx="3139916" cy="6357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5000"/>
              </a:lnSpc>
              <a:buNone/>
            </a:pPr>
            <a:r>
              <a:rPr lang="en-US" sz="5000" dirty="0">
                <a:solidFill>
                  <a:srgbClr val="5B5F71"/>
                </a:solidFill>
                <a:latin typeface="Instrument Sans Semi Bold" pitchFamily="34" charset="0"/>
                <a:ea typeface="Instrument Sans Semi Bold" pitchFamily="34" charset="-122"/>
                <a:cs typeface="Instrument Sans Semi Bold" pitchFamily="34" charset="-120"/>
              </a:rPr>
              <a:t>0.5254</a:t>
            </a:r>
            <a:endParaRPr lang="en-US" sz="5000" dirty="0"/>
          </a:p>
        </p:txBody>
      </p:sp>
      <p:sp>
        <p:nvSpPr>
          <p:cNvPr id="16" name="Text 11"/>
          <p:cNvSpPr/>
          <p:nvPr/>
        </p:nvSpPr>
        <p:spPr>
          <a:xfrm>
            <a:off x="4420553" y="5739051"/>
            <a:ext cx="2408515" cy="3009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350"/>
              </a:lnSpc>
              <a:buNone/>
            </a:pPr>
            <a:r>
              <a:rPr lang="en-US" sz="1850" dirty="0">
                <a:solidFill>
                  <a:srgbClr val="5B5F71"/>
                </a:solidFill>
                <a:latin typeface="Instrument Sans Semi Bold" pitchFamily="34" charset="0"/>
                <a:ea typeface="Instrument Sans Semi Bold" pitchFamily="34" charset="-122"/>
                <a:cs typeface="Instrument Sans Semi Bold" pitchFamily="34" charset="-120"/>
              </a:rPr>
              <a:t>RMSE</a:t>
            </a:r>
            <a:endParaRPr lang="en-US" sz="1850" dirty="0"/>
          </a:p>
        </p:txBody>
      </p:sp>
      <p:sp>
        <p:nvSpPr>
          <p:cNvPr id="17" name="Text 12"/>
          <p:cNvSpPr/>
          <p:nvPr/>
        </p:nvSpPr>
        <p:spPr>
          <a:xfrm>
            <a:off x="7435572" y="4862512"/>
            <a:ext cx="3139797" cy="6357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5000"/>
              </a:lnSpc>
              <a:buNone/>
            </a:pPr>
            <a:r>
              <a:rPr lang="en-US" sz="5000" dirty="0">
                <a:solidFill>
                  <a:srgbClr val="5B5F71"/>
                </a:solidFill>
                <a:latin typeface="Instrument Sans Semi Bold" pitchFamily="34" charset="0"/>
                <a:ea typeface="Instrument Sans Semi Bold" pitchFamily="34" charset="-122"/>
                <a:cs typeface="Instrument Sans Semi Bold" pitchFamily="34" charset="-120"/>
              </a:rPr>
              <a:t>0.2621</a:t>
            </a:r>
            <a:endParaRPr lang="en-US" sz="5000" dirty="0"/>
          </a:p>
        </p:txBody>
      </p:sp>
      <p:sp>
        <p:nvSpPr>
          <p:cNvPr id="18" name="Text 13"/>
          <p:cNvSpPr/>
          <p:nvPr/>
        </p:nvSpPr>
        <p:spPr>
          <a:xfrm>
            <a:off x="7801213" y="5739051"/>
            <a:ext cx="2408515" cy="3009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350"/>
              </a:lnSpc>
              <a:buNone/>
            </a:pPr>
            <a:r>
              <a:rPr lang="en-US" sz="1850" dirty="0">
                <a:solidFill>
                  <a:srgbClr val="5B5F71"/>
                </a:solidFill>
                <a:latin typeface="Instrument Sans Semi Bold" pitchFamily="34" charset="0"/>
                <a:ea typeface="Instrument Sans Semi Bold" pitchFamily="34" charset="-122"/>
                <a:cs typeface="Instrument Sans Semi Bold" pitchFamily="34" charset="-120"/>
              </a:rPr>
              <a:t>MAE</a:t>
            </a:r>
            <a:endParaRPr lang="en-US" sz="1850" dirty="0"/>
          </a:p>
        </p:txBody>
      </p:sp>
      <p:sp>
        <p:nvSpPr>
          <p:cNvPr id="19" name="Text 14"/>
          <p:cNvSpPr/>
          <p:nvPr/>
        </p:nvSpPr>
        <p:spPr>
          <a:xfrm>
            <a:off x="10816114" y="4862512"/>
            <a:ext cx="3139916" cy="6357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5000"/>
              </a:lnSpc>
              <a:buNone/>
            </a:pPr>
            <a:r>
              <a:rPr lang="en-US" sz="5000" dirty="0">
                <a:solidFill>
                  <a:srgbClr val="5B5F71"/>
                </a:solidFill>
                <a:latin typeface="Instrument Sans Semi Bold" pitchFamily="34" charset="0"/>
                <a:ea typeface="Instrument Sans Semi Bold" pitchFamily="34" charset="-122"/>
                <a:cs typeface="Instrument Sans Semi Bold" pitchFamily="34" charset="-120"/>
              </a:rPr>
              <a:t>0.50%</a:t>
            </a:r>
            <a:endParaRPr lang="en-US" sz="5000" dirty="0"/>
          </a:p>
        </p:txBody>
      </p:sp>
      <p:sp>
        <p:nvSpPr>
          <p:cNvPr id="20" name="Text 15"/>
          <p:cNvSpPr/>
          <p:nvPr/>
        </p:nvSpPr>
        <p:spPr>
          <a:xfrm>
            <a:off x="11181755" y="5739051"/>
            <a:ext cx="2408515" cy="3009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350"/>
              </a:lnSpc>
              <a:buNone/>
            </a:pPr>
            <a:r>
              <a:rPr lang="en-US" sz="1850" dirty="0">
                <a:solidFill>
                  <a:srgbClr val="5B5F71"/>
                </a:solidFill>
                <a:latin typeface="Instrument Sans Semi Bold" pitchFamily="34" charset="0"/>
                <a:ea typeface="Instrument Sans Semi Bold" pitchFamily="34" charset="-122"/>
                <a:cs typeface="Instrument Sans Semi Bold" pitchFamily="34" charset="-120"/>
              </a:rPr>
              <a:t>MAPE</a:t>
            </a:r>
            <a:endParaRPr lang="en-US" sz="1850" dirty="0"/>
          </a:p>
        </p:txBody>
      </p:sp>
      <p:sp>
        <p:nvSpPr>
          <p:cNvPr id="21" name="Text 16"/>
          <p:cNvSpPr/>
          <p:nvPr/>
        </p:nvSpPr>
        <p:spPr>
          <a:xfrm>
            <a:off x="5745242" y="6521648"/>
            <a:ext cx="3139797" cy="6357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5000"/>
              </a:lnSpc>
              <a:buNone/>
            </a:pPr>
            <a:r>
              <a:rPr lang="en-US" sz="5000" dirty="0">
                <a:solidFill>
                  <a:srgbClr val="5B5F71"/>
                </a:solidFill>
                <a:latin typeface="Instrument Sans Semi Bold" pitchFamily="34" charset="0"/>
                <a:ea typeface="Instrument Sans Semi Bold" pitchFamily="34" charset="-122"/>
                <a:cs typeface="Instrument Sans Semi Bold" pitchFamily="34" charset="-120"/>
              </a:rPr>
              <a:t>0.9995</a:t>
            </a:r>
            <a:endParaRPr lang="en-US" sz="5000" dirty="0"/>
          </a:p>
        </p:txBody>
      </p:sp>
      <p:sp>
        <p:nvSpPr>
          <p:cNvPr id="22" name="Text 17"/>
          <p:cNvSpPr/>
          <p:nvPr/>
        </p:nvSpPr>
        <p:spPr>
          <a:xfrm>
            <a:off x="6110883" y="7398187"/>
            <a:ext cx="2408515" cy="3009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350"/>
              </a:lnSpc>
              <a:buNone/>
            </a:pPr>
            <a:r>
              <a:rPr lang="en-US" sz="1850" dirty="0">
                <a:solidFill>
                  <a:srgbClr val="5B5F71"/>
                </a:solidFill>
                <a:latin typeface="Instrument Sans Semi Bold" pitchFamily="34" charset="0"/>
                <a:ea typeface="Instrument Sans Semi Bold" pitchFamily="34" charset="-122"/>
                <a:cs typeface="Instrument Sans Semi Bold" pitchFamily="34" charset="-120"/>
              </a:rPr>
              <a:t>R² </a:t>
            </a:r>
            <a:endParaRPr lang="en-US" sz="1850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23" name="Ink 22">
                <a:extLst>
                  <a:ext uri="{FF2B5EF4-FFF2-40B4-BE49-F238E27FC236}">
                    <a16:creationId xmlns:a16="http://schemas.microsoft.com/office/drawing/2014/main" id="{83F00F84-506C-4415-F6B3-6A2850C32C6D}"/>
                  </a:ext>
                </a:extLst>
              </p14:cNvPr>
              <p14:cNvContentPartPr/>
              <p14:nvPr/>
            </p14:nvContentPartPr>
            <p14:xfrm>
              <a:off x="12915965" y="7896715"/>
              <a:ext cx="1538280" cy="360"/>
            </p14:xfrm>
          </p:contentPart>
        </mc:Choice>
        <mc:Fallback xmlns="">
          <p:pic>
            <p:nvPicPr>
              <p:cNvPr id="23" name="Ink 22">
                <a:extLst>
                  <a:ext uri="{FF2B5EF4-FFF2-40B4-BE49-F238E27FC236}">
                    <a16:creationId xmlns:a16="http://schemas.microsoft.com/office/drawing/2014/main" id="{83F00F84-506C-4415-F6B3-6A2850C32C6D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12853325" y="7834075"/>
                <a:ext cx="1663920" cy="12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24" name="Ink 23">
                <a:extLst>
                  <a:ext uri="{FF2B5EF4-FFF2-40B4-BE49-F238E27FC236}">
                    <a16:creationId xmlns:a16="http://schemas.microsoft.com/office/drawing/2014/main" id="{FC20E996-7FF5-AA13-CB94-781C87767255}"/>
                  </a:ext>
                </a:extLst>
              </p14:cNvPr>
              <p14:cNvContentPartPr/>
              <p14:nvPr/>
            </p14:nvContentPartPr>
            <p14:xfrm>
              <a:off x="12884645" y="8021275"/>
              <a:ext cx="1496880" cy="360"/>
            </p14:xfrm>
          </p:contentPart>
        </mc:Choice>
        <mc:Fallback xmlns="">
          <p:pic>
            <p:nvPicPr>
              <p:cNvPr id="24" name="Ink 23">
                <a:extLst>
                  <a:ext uri="{FF2B5EF4-FFF2-40B4-BE49-F238E27FC236}">
                    <a16:creationId xmlns:a16="http://schemas.microsoft.com/office/drawing/2014/main" id="{FC20E996-7FF5-AA13-CB94-781C87767255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12821645" y="7958635"/>
                <a:ext cx="1622520" cy="12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25" name="Ink 24">
                <a:extLst>
                  <a:ext uri="{FF2B5EF4-FFF2-40B4-BE49-F238E27FC236}">
                    <a16:creationId xmlns:a16="http://schemas.microsoft.com/office/drawing/2014/main" id="{BBC82F68-28CA-6704-FC5D-9FA80C51F964}"/>
                  </a:ext>
                </a:extLst>
              </p14:cNvPr>
              <p14:cNvContentPartPr/>
              <p14:nvPr/>
            </p14:nvContentPartPr>
            <p14:xfrm>
              <a:off x="14349845" y="7823995"/>
              <a:ext cx="106200" cy="250200"/>
            </p14:xfrm>
          </p:contentPart>
        </mc:Choice>
        <mc:Fallback xmlns="">
          <p:pic>
            <p:nvPicPr>
              <p:cNvPr id="25" name="Ink 24">
                <a:extLst>
                  <a:ext uri="{FF2B5EF4-FFF2-40B4-BE49-F238E27FC236}">
                    <a16:creationId xmlns:a16="http://schemas.microsoft.com/office/drawing/2014/main" id="{BBC82F68-28CA-6704-FC5D-9FA80C51F964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14287205" y="7761355"/>
                <a:ext cx="231840" cy="37584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941546"/>
            <a:ext cx="3402330" cy="425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300"/>
              </a:lnSpc>
              <a:buNone/>
            </a:pPr>
            <a:r>
              <a:rPr lang="en-US" sz="2650" dirty="0">
                <a:solidFill>
                  <a:srgbClr val="505468"/>
                </a:solidFill>
                <a:latin typeface="Instrument Sans Semi Bold" pitchFamily="34" charset="0"/>
                <a:ea typeface="Instrument Sans Semi Bold" pitchFamily="34" charset="-122"/>
                <a:cs typeface="Instrument Sans Semi Bold" pitchFamily="34" charset="-120"/>
              </a:rPr>
              <a:t>Inference:</a:t>
            </a:r>
            <a:endParaRPr lang="en-US" sz="2650" dirty="0"/>
          </a:p>
        </p:txBody>
      </p:sp>
      <p:sp>
        <p:nvSpPr>
          <p:cNvPr id="3" name="Text 1"/>
          <p:cNvSpPr/>
          <p:nvPr/>
        </p:nvSpPr>
        <p:spPr>
          <a:xfrm>
            <a:off x="793790" y="1820466"/>
            <a:ext cx="13042821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5B5F71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Excellent generalization and near-perfect fit.</a:t>
            </a:r>
            <a:endParaRPr lang="en-US" sz="1750" dirty="0"/>
          </a:p>
        </p:txBody>
      </p:sp>
      <p:sp>
        <p:nvSpPr>
          <p:cNvPr id="4" name="Text 2"/>
          <p:cNvSpPr/>
          <p:nvPr/>
        </p:nvSpPr>
        <p:spPr>
          <a:xfrm>
            <a:off x="793790" y="2262664"/>
            <a:ext cx="13042821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5B5F71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Outperformed LSTM in proportional accuracy and R².</a:t>
            </a:r>
            <a:endParaRPr lang="en-US" sz="1750" dirty="0"/>
          </a:p>
        </p:txBody>
      </p:sp>
      <p:sp>
        <p:nvSpPr>
          <p:cNvPr id="5" name="Text 3"/>
          <p:cNvSpPr/>
          <p:nvPr/>
        </p:nvSpPr>
        <p:spPr>
          <a:xfrm>
            <a:off x="793790" y="2704862"/>
            <a:ext cx="13042821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5B5F71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Indicates XGBoost captures engineered temporal features better.</a:t>
            </a:r>
            <a:endParaRPr lang="en-US" sz="1750" dirty="0"/>
          </a:p>
        </p:txBody>
      </p:sp>
      <p:sp>
        <p:nvSpPr>
          <p:cNvPr id="6" name="Shape 4"/>
          <p:cNvSpPr/>
          <p:nvPr/>
        </p:nvSpPr>
        <p:spPr>
          <a:xfrm>
            <a:off x="793790" y="3436296"/>
            <a:ext cx="13042821" cy="35957"/>
          </a:xfrm>
          <a:prstGeom prst="rect">
            <a:avLst/>
          </a:prstGeom>
          <a:solidFill>
            <a:srgbClr val="5B5F71">
              <a:alpha val="50000"/>
            </a:srgbClr>
          </a:solidFill>
          <a:ln/>
        </p:spPr>
      </p:sp>
      <p:sp>
        <p:nvSpPr>
          <p:cNvPr id="7" name="Text 5"/>
          <p:cNvSpPr/>
          <p:nvPr/>
        </p:nvSpPr>
        <p:spPr>
          <a:xfrm>
            <a:off x="793790" y="3812381"/>
            <a:ext cx="6249472" cy="56697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450"/>
              </a:lnSpc>
              <a:buNone/>
            </a:pPr>
            <a:r>
              <a:rPr lang="en-US" sz="3550" dirty="0">
                <a:solidFill>
                  <a:srgbClr val="505468"/>
                </a:solidFill>
                <a:latin typeface="Instrument Sans Semi Bold" pitchFamily="34" charset="0"/>
                <a:ea typeface="Instrument Sans Semi Bold" pitchFamily="34" charset="-122"/>
                <a:cs typeface="Instrument Sans Semi Bold" pitchFamily="34" charset="-120"/>
              </a:rPr>
              <a:t>Conclusion and Future Scope</a:t>
            </a:r>
            <a:endParaRPr lang="en-US" sz="3550" dirty="0"/>
          </a:p>
        </p:txBody>
      </p:sp>
      <p:sp>
        <p:nvSpPr>
          <p:cNvPr id="8" name="Text 6"/>
          <p:cNvSpPr/>
          <p:nvPr/>
        </p:nvSpPr>
        <p:spPr>
          <a:xfrm>
            <a:off x="793790" y="4946333"/>
            <a:ext cx="3402330" cy="425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300"/>
              </a:lnSpc>
              <a:buNone/>
            </a:pPr>
            <a:r>
              <a:rPr lang="en-US" sz="2650" dirty="0">
                <a:solidFill>
                  <a:srgbClr val="505468"/>
                </a:solidFill>
                <a:latin typeface="Instrument Sans Semi Bold" pitchFamily="34" charset="0"/>
                <a:ea typeface="Instrument Sans Semi Bold" pitchFamily="34" charset="-122"/>
                <a:cs typeface="Instrument Sans Semi Bold" pitchFamily="34" charset="-120"/>
              </a:rPr>
              <a:t>Conclusion:</a:t>
            </a:r>
            <a:endParaRPr lang="en-US" sz="2650" dirty="0"/>
          </a:p>
        </p:txBody>
      </p:sp>
      <p:sp>
        <p:nvSpPr>
          <p:cNvPr id="9" name="Text 7"/>
          <p:cNvSpPr/>
          <p:nvPr/>
        </p:nvSpPr>
        <p:spPr>
          <a:xfrm>
            <a:off x="793790" y="5598438"/>
            <a:ext cx="6244709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5B5F71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XGBoost performed better in accuracy and interpretability.</a:t>
            </a:r>
            <a:endParaRPr lang="en-US" sz="1750" dirty="0"/>
          </a:p>
        </p:txBody>
      </p:sp>
      <p:sp>
        <p:nvSpPr>
          <p:cNvPr id="10" name="Text 8"/>
          <p:cNvSpPr/>
          <p:nvPr/>
        </p:nvSpPr>
        <p:spPr>
          <a:xfrm>
            <a:off x="793790" y="6403538"/>
            <a:ext cx="6244709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5B5F71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LSTM performance could improve with scaling &amp; tuning.</a:t>
            </a:r>
            <a:endParaRPr lang="en-US" sz="1750" dirty="0"/>
          </a:p>
        </p:txBody>
      </p:sp>
      <p:sp>
        <p:nvSpPr>
          <p:cNvPr id="11" name="Text 9"/>
          <p:cNvSpPr/>
          <p:nvPr/>
        </p:nvSpPr>
        <p:spPr>
          <a:xfrm>
            <a:off x="7599521" y="4946333"/>
            <a:ext cx="3402330" cy="425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300"/>
              </a:lnSpc>
              <a:buNone/>
            </a:pPr>
            <a:r>
              <a:rPr lang="en-US" sz="2650" dirty="0">
                <a:solidFill>
                  <a:srgbClr val="505468"/>
                </a:solidFill>
                <a:latin typeface="Instrument Sans Semi Bold" pitchFamily="34" charset="0"/>
                <a:ea typeface="Instrument Sans Semi Bold" pitchFamily="34" charset="-122"/>
                <a:cs typeface="Instrument Sans Semi Bold" pitchFamily="34" charset="-120"/>
              </a:rPr>
              <a:t>Future Work:</a:t>
            </a:r>
            <a:endParaRPr lang="en-US" sz="2650" dirty="0"/>
          </a:p>
        </p:txBody>
      </p:sp>
      <p:sp>
        <p:nvSpPr>
          <p:cNvPr id="12" name="Text 10"/>
          <p:cNvSpPr/>
          <p:nvPr/>
        </p:nvSpPr>
        <p:spPr>
          <a:xfrm>
            <a:off x="7599521" y="5598438"/>
            <a:ext cx="6244709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5B5F71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Combine both models (Hybrid Ensemble).</a:t>
            </a:r>
            <a:endParaRPr lang="en-US" sz="1750" dirty="0"/>
          </a:p>
        </p:txBody>
      </p:sp>
      <p:sp>
        <p:nvSpPr>
          <p:cNvPr id="13" name="Text 11"/>
          <p:cNvSpPr/>
          <p:nvPr/>
        </p:nvSpPr>
        <p:spPr>
          <a:xfrm>
            <a:off x="7599521" y="6040636"/>
            <a:ext cx="6244709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5B5F71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Integrate with real-time data for live congestion dashboards.</a:t>
            </a:r>
            <a:endParaRPr lang="en-US" sz="1750" dirty="0"/>
          </a:p>
        </p:txBody>
      </p:sp>
      <p:sp>
        <p:nvSpPr>
          <p:cNvPr id="14" name="Text 12"/>
          <p:cNvSpPr/>
          <p:nvPr/>
        </p:nvSpPr>
        <p:spPr>
          <a:xfrm>
            <a:off x="7599521" y="6845737"/>
            <a:ext cx="6244709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5B5F71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Deploy using Streamlit or Flask web interface.</a:t>
            </a:r>
            <a:endParaRPr lang="en-US" sz="1750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15" name="Ink 14">
                <a:extLst>
                  <a:ext uri="{FF2B5EF4-FFF2-40B4-BE49-F238E27FC236}">
                    <a16:creationId xmlns:a16="http://schemas.microsoft.com/office/drawing/2014/main" id="{5D23ED07-DCC9-A983-3F57-61D003CE54BD}"/>
                  </a:ext>
                </a:extLst>
              </p14:cNvPr>
              <p14:cNvContentPartPr/>
              <p14:nvPr/>
            </p14:nvContentPartPr>
            <p14:xfrm>
              <a:off x="12863765" y="7844515"/>
              <a:ext cx="1611000" cy="21600"/>
            </p14:xfrm>
          </p:contentPart>
        </mc:Choice>
        <mc:Fallback xmlns="">
          <p:pic>
            <p:nvPicPr>
              <p:cNvPr id="15" name="Ink 14">
                <a:extLst>
                  <a:ext uri="{FF2B5EF4-FFF2-40B4-BE49-F238E27FC236}">
                    <a16:creationId xmlns:a16="http://schemas.microsoft.com/office/drawing/2014/main" id="{5D23ED07-DCC9-A983-3F57-61D003CE54BD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2801125" y="7781515"/>
                <a:ext cx="1736640" cy="147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0E157382-7EC0-7823-F14D-6171E77D7ECB}"/>
                  </a:ext>
                </a:extLst>
              </p14:cNvPr>
              <p14:cNvContentPartPr/>
              <p14:nvPr/>
            </p14:nvContentPartPr>
            <p14:xfrm>
              <a:off x="12915965" y="7948555"/>
              <a:ext cx="1476000" cy="73440"/>
            </p14:xfrm>
          </p:contentPart>
        </mc:Choice>
        <mc:Fallback xmlns=""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0E157382-7EC0-7823-F14D-6171E77D7ECB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12853325" y="7885555"/>
                <a:ext cx="1601640" cy="199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18" name="Ink 17">
                <a:extLst>
                  <a:ext uri="{FF2B5EF4-FFF2-40B4-BE49-F238E27FC236}">
                    <a16:creationId xmlns:a16="http://schemas.microsoft.com/office/drawing/2014/main" id="{A3865244-F617-FBED-30AD-6875EE774EA7}"/>
                  </a:ext>
                </a:extLst>
              </p14:cNvPr>
              <p14:cNvContentPartPr/>
              <p14:nvPr/>
            </p14:nvContentPartPr>
            <p14:xfrm>
              <a:off x="13102805" y="7990315"/>
              <a:ext cx="1413360" cy="42120"/>
            </p14:xfrm>
          </p:contentPart>
        </mc:Choice>
        <mc:Fallback xmlns="">
          <p:pic>
            <p:nvPicPr>
              <p:cNvPr id="18" name="Ink 17">
                <a:extLst>
                  <a:ext uri="{FF2B5EF4-FFF2-40B4-BE49-F238E27FC236}">
                    <a16:creationId xmlns:a16="http://schemas.microsoft.com/office/drawing/2014/main" id="{A3865244-F617-FBED-30AD-6875EE774EA7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13040165" y="7927315"/>
                <a:ext cx="1539000" cy="16776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543</Words>
  <Application>Microsoft Office PowerPoint</Application>
  <PresentationFormat>Custom</PresentationFormat>
  <Paragraphs>114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3" baseType="lpstr">
      <vt:lpstr>Instrument Sans Semi Bold</vt:lpstr>
      <vt:lpstr>Arial</vt:lpstr>
      <vt:lpstr>Instrument Sans Light</vt:lpstr>
      <vt:lpstr>Instrument Sans Medium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lastModifiedBy>Devashish Rawat</cp:lastModifiedBy>
  <cp:revision>3</cp:revision>
  <dcterms:created xsi:type="dcterms:W3CDTF">2025-10-29T14:37:53Z</dcterms:created>
  <dcterms:modified xsi:type="dcterms:W3CDTF">2025-11-19T07:21:42Z</dcterms:modified>
</cp:coreProperties>
</file>