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4630400" cy="8229600"/>
  <p:notesSz cx="8229600" cy="14630400"/>
  <p:embeddedFontLst>
    <p:embeddedFont>
      <p:font typeface="Alexandria Semi Bold" panose="020B0604020202020204" charset="-78"/>
      <p:regular r:id="rId8"/>
    </p:embeddedFont>
    <p:embeddedFont>
      <p:font typeface="Arial Rounded MT Bold" panose="020F0704030504030204" pitchFamily="34" charset="0"/>
      <p:regular r:id="rId9"/>
    </p:embeddedFont>
    <p:embeddedFont>
      <p:font typeface="Sitka Small" pitchFamily="2" charset="0"/>
      <p:regular r:id="rId10"/>
      <p:bold r:id="rId11"/>
      <p:italic r:id="rId12"/>
      <p:boldItalic r:id="rId13"/>
    </p:embeddedFont>
    <p:embeddedFont>
      <p:font typeface="Sitka Subheading" pitchFamily="2" charset="0"/>
      <p:regular r:id="rId14"/>
      <p:bold r:id="rId15"/>
      <p:italic r:id="rId16"/>
      <p:boldItalic r:id="rId17"/>
    </p:embeddedFont>
    <p:embeddedFont>
      <p:font typeface="Sora Light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44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5009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44709" y="2719507"/>
            <a:ext cx="7627382" cy="142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dirty="0">
                <a:solidFill>
                  <a:srgbClr val="1F1E1E"/>
                </a:solidFill>
                <a:latin typeface="Arial Rounded MT Bold" panose="020F0704030504030204" pitchFamily="34" charset="0"/>
                <a:ea typeface="Alexandria Semi Bold" pitchFamily="34" charset="-122"/>
                <a:cs typeface="Alexandria Semi Bold" pitchFamily="34" charset="-120"/>
              </a:rPr>
              <a:t>Principal Component Analysis (PCA)</a:t>
            </a:r>
            <a:endParaRPr lang="en-US" sz="4450" dirty="0">
              <a:latin typeface="Arial Rounded MT Bold" panose="020F0704030504030204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6244709" y="4469844"/>
            <a:ext cx="7627382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itka Subheading" pitchFamily="2" charset="0"/>
                <a:ea typeface="Sora Light" pitchFamily="34" charset="-122"/>
                <a:cs typeface="Sora Light" pitchFamily="34" charset="-120"/>
              </a:rPr>
              <a:t>A powerful dimensionality reduction technique that transforms complex data into simpler, more manageable forms while preserving essential information.</a:t>
            </a:r>
            <a:endParaRPr lang="en-US" sz="1700" dirty="0">
              <a:latin typeface="Sitka Subheading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309" y="1889641"/>
            <a:ext cx="5701546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What is </a:t>
            </a:r>
            <a:r>
              <a:rPr lang="en-US" sz="4450" dirty="0">
                <a:solidFill>
                  <a:srgbClr val="1F1E1E"/>
                </a:solidFill>
                <a:latin typeface="Arial Rounded MT Bold" panose="020F0704030504030204" pitchFamily="34" charset="0"/>
                <a:ea typeface="Alexandria Semi Bold" pitchFamily="34" charset="-122"/>
                <a:cs typeface="Alexandria Semi Bold" pitchFamily="34" charset="-120"/>
              </a:rPr>
              <a:t>PCA</a:t>
            </a:r>
            <a:r>
              <a:rPr lang="en-US" sz="445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?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58309" y="3035618"/>
            <a:ext cx="4226838" cy="2367082"/>
          </a:xfrm>
          <a:prstGeom prst="roundRect">
            <a:avLst>
              <a:gd name="adj" fmla="val 3844"/>
            </a:avLst>
          </a:prstGeom>
          <a:solidFill>
            <a:srgbClr val="FFFAFA"/>
          </a:solidFill>
          <a:ln w="30480">
            <a:solidFill>
              <a:srgbClr val="BBC2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364" y="3282672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rial Rounded MT Bold" panose="020F0704030504030204" pitchFamily="34" charset="0"/>
                <a:ea typeface="Alexandria Semi Bold" pitchFamily="34" charset="-122"/>
                <a:cs typeface="Alexandria Semi Bold" pitchFamily="34" charset="-120"/>
              </a:rPr>
              <a:t>Definition</a:t>
            </a:r>
            <a:endParaRPr lang="en-US" sz="2200" dirty="0">
              <a:latin typeface="Arial Rounded MT Bold" panose="020F07040305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05364" y="3768804"/>
            <a:ext cx="3732728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itka Small" pitchFamily="2" charset="0"/>
                <a:ea typeface="Sora Light" pitchFamily="34" charset="-122"/>
                <a:cs typeface="Sora Light" pitchFamily="34" charset="-120"/>
              </a:rPr>
              <a:t>A dimensionality reduction technique that reduces the number of features while keeping the most important information</a:t>
            </a: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201722" y="3035618"/>
            <a:ext cx="4226838" cy="2367082"/>
          </a:xfrm>
          <a:prstGeom prst="roundRect">
            <a:avLst>
              <a:gd name="adj" fmla="val 3844"/>
            </a:avLst>
          </a:prstGeom>
          <a:solidFill>
            <a:srgbClr val="FFFAFA"/>
          </a:solidFill>
          <a:ln w="30480">
            <a:solidFill>
              <a:srgbClr val="BBC2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48776" y="3282672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rial Rounded MT Bold" panose="020F0704030504030204" pitchFamily="34" charset="0"/>
                <a:ea typeface="Alexandria Semi Bold" pitchFamily="34" charset="-122"/>
                <a:cs typeface="Alexandria Semi Bold" pitchFamily="34" charset="-120"/>
              </a:rPr>
              <a:t>Purpose</a:t>
            </a:r>
            <a:endParaRPr lang="en-US" sz="2200" dirty="0">
              <a:latin typeface="Arial Rounded MT Bold" panose="020F070403050403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48776" y="3768804"/>
            <a:ext cx="3732728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itka Small" pitchFamily="2" charset="0"/>
                <a:ea typeface="Sora Light" pitchFamily="34" charset="-122"/>
                <a:cs typeface="Sora Light" pitchFamily="34" charset="-120"/>
              </a:rPr>
              <a:t>Creates new uncorrelated features (principal components) that capture the maximum variance in the data.</a:t>
            </a:r>
            <a:endParaRPr lang="en-US" sz="1700" dirty="0">
              <a:latin typeface="Sitka Small" pitchFamily="2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9645134" y="3035618"/>
            <a:ext cx="4226957" cy="2367082"/>
          </a:xfrm>
          <a:prstGeom prst="roundRect">
            <a:avLst>
              <a:gd name="adj" fmla="val 3844"/>
            </a:avLst>
          </a:prstGeom>
          <a:solidFill>
            <a:srgbClr val="FFFAFA"/>
          </a:solidFill>
          <a:ln w="30480">
            <a:solidFill>
              <a:srgbClr val="BBC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92189" y="3282672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rial Rounded MT Bold" panose="020F0704030504030204" pitchFamily="34" charset="0"/>
                <a:ea typeface="Alexandria Semi Bold" pitchFamily="34" charset="-122"/>
                <a:cs typeface="Alexandria Semi Bold" pitchFamily="34" charset="-120"/>
              </a:rPr>
              <a:t>Applications</a:t>
            </a:r>
            <a:endParaRPr lang="en-US" sz="2200" dirty="0">
              <a:latin typeface="Arial Rounded MT Bold" panose="020F070403050403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892189" y="3768804"/>
            <a:ext cx="3732848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itka Small" pitchFamily="2" charset="0"/>
                <a:ea typeface="Sora Light" pitchFamily="34" charset="-122"/>
                <a:cs typeface="Sora Light" pitchFamily="34" charset="-120"/>
              </a:rPr>
              <a:t>Data preprocessing, removing redundancy, improving computational efficiency, and making data easier to visualize.</a:t>
            </a:r>
            <a:endParaRPr lang="en-US" sz="1700" dirty="0">
              <a:latin typeface="Sitka Small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58309" y="5646420"/>
            <a:ext cx="13113782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itka Small" pitchFamily="2" charset="0"/>
                <a:ea typeface="Sora Light" pitchFamily="34" charset="-122"/>
                <a:cs typeface="Sora Light" pitchFamily="34" charset="-120"/>
              </a:rPr>
              <a:t>PCA is especially valuable when dealing with high-dimensional data that would otherwise be difficult to analyze or visualize</a:t>
            </a: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44709" y="1195626"/>
            <a:ext cx="5701546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How PCA Works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44709" y="2449830"/>
            <a:ext cx="3511391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BE49DF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Step 1:</a:t>
            </a:r>
            <a:r>
              <a:rPr lang="en-US" sz="220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 </a:t>
            </a:r>
            <a:r>
              <a:rPr lang="en-US" sz="2200" dirty="0">
                <a:solidFill>
                  <a:srgbClr val="1F1E1E"/>
                </a:solidFill>
                <a:latin typeface="Arial Rounded MT Bold" panose="020F0704030504030204" pitchFamily="34" charset="0"/>
                <a:ea typeface="Alexandria Semi Bold" pitchFamily="34" charset="-122"/>
                <a:cs typeface="Alexandria Semi Bold" pitchFamily="34" charset="-120"/>
              </a:rPr>
              <a:t>Standardize Data</a:t>
            </a:r>
            <a:endParaRPr lang="en-US" sz="2200" dirty="0">
              <a:latin typeface="Arial Rounded MT Bold" panose="020F070403050403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6244709" y="3022640"/>
            <a:ext cx="3549372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itka Small" pitchFamily="2" charset="0"/>
                <a:ea typeface="Sora Light" pitchFamily="34" charset="-122"/>
                <a:cs typeface="Sora Light" pitchFamily="34" charset="-120"/>
              </a:rPr>
              <a:t>Transform features to have mean = 0 and standard deviation = 1</a:t>
            </a:r>
            <a:endParaRPr lang="en-US" sz="1700" dirty="0">
              <a:latin typeface="Sitka Small" pitchFamily="2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6275654" y="4462841"/>
            <a:ext cx="3549372" cy="71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BE49DF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Step 2:</a:t>
            </a:r>
            <a:r>
              <a:rPr lang="en-US" sz="220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 </a:t>
            </a:r>
            <a:r>
              <a:rPr lang="en-US" sz="2200" dirty="0">
                <a:solidFill>
                  <a:srgbClr val="1F1E1E"/>
                </a:solidFill>
                <a:latin typeface="Arial Rounded MT Bold" panose="020F0704030504030204" pitchFamily="34" charset="0"/>
                <a:ea typeface="Alexandria Semi Bold" pitchFamily="34" charset="-122"/>
                <a:cs typeface="Alexandria Semi Bold" pitchFamily="34" charset="-120"/>
              </a:rPr>
              <a:t>Calculate Covariance Matrix</a:t>
            </a:r>
            <a:endParaRPr lang="en-US" sz="2200" dirty="0">
              <a:latin typeface="Arial Rounded MT Bold" panose="020F070403050403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6265263" y="5319414"/>
            <a:ext cx="3549372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itka Small" pitchFamily="2" charset="0"/>
                <a:ea typeface="Sora Light" pitchFamily="34" charset="-122"/>
                <a:cs typeface="Sora Light" pitchFamily="34" charset="-120"/>
              </a:rPr>
              <a:t>Measure how features relate to each other</a:t>
            </a:r>
            <a:endParaRPr lang="en-US" sz="1700" dirty="0">
              <a:latin typeface="Sitka Small" pitchFamily="2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10330339" y="2449830"/>
            <a:ext cx="3549372" cy="71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BE49DF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Step 3:</a:t>
            </a:r>
            <a:r>
              <a:rPr lang="en-US" sz="220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 </a:t>
            </a:r>
            <a:r>
              <a:rPr lang="en-US" sz="2200" dirty="0">
                <a:solidFill>
                  <a:srgbClr val="1F1E1E"/>
                </a:solidFill>
                <a:latin typeface="Arial Rounded MT Bold" panose="020F0704030504030204" pitchFamily="34" charset="0"/>
                <a:ea typeface="Alexandria Semi Bold" pitchFamily="34" charset="-122"/>
                <a:cs typeface="Alexandria Semi Bold" pitchFamily="34" charset="-120"/>
              </a:rPr>
              <a:t>Find Principal Components</a:t>
            </a:r>
            <a:endParaRPr lang="en-US" sz="2200" dirty="0">
              <a:latin typeface="Arial Rounded MT Bold" panose="020F070403050403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10330339" y="3378875"/>
            <a:ext cx="3549372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itka Small" pitchFamily="2" charset="0"/>
                <a:ea typeface="Sora Light" pitchFamily="34" charset="-122"/>
                <a:cs typeface="Sora Light" pitchFamily="34" charset="-120"/>
              </a:rPr>
              <a:t>Calculate eigenvectors (directions) and eigenvalues (importance)</a:t>
            </a:r>
            <a:endParaRPr lang="en-US" sz="1700" dirty="0">
              <a:latin typeface="Sitka Small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330339" y="4635579"/>
            <a:ext cx="3298865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BE49DF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Step 4:</a:t>
            </a:r>
            <a:r>
              <a:rPr lang="en-US" sz="220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 </a:t>
            </a:r>
            <a:r>
              <a:rPr lang="en-US" sz="2200" dirty="0">
                <a:solidFill>
                  <a:srgbClr val="1F1E1E"/>
                </a:solidFill>
                <a:latin typeface="Arial Rounded MT Bold" panose="020F0704030504030204" pitchFamily="34" charset="0"/>
                <a:ea typeface="Alexandria Semi Bold" pitchFamily="34" charset="-122"/>
                <a:cs typeface="Alexandria Semi Bold" pitchFamily="34" charset="-120"/>
              </a:rPr>
              <a:t>Transform Data</a:t>
            </a:r>
            <a:endParaRPr lang="en-US" sz="2200" dirty="0">
              <a:latin typeface="Arial Rounded MT Bold" panose="020F070403050403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330339" y="5208389"/>
            <a:ext cx="3549372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itka Small" pitchFamily="2" charset="0"/>
                <a:ea typeface="Sora Light" pitchFamily="34" charset="-122"/>
                <a:cs typeface="Sora Light" pitchFamily="34" charset="-120"/>
              </a:rPr>
              <a:t>Select top components and project data onto them</a:t>
            </a:r>
            <a:endParaRPr lang="en-US" sz="1700" dirty="0">
              <a:latin typeface="Sitka Small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6244709" y="6340435"/>
            <a:ext cx="7627382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In this example, PC₁ captures maximum variance, allowing us to transform 2D data into 1D while preserving important patterns.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309" y="2077283"/>
            <a:ext cx="5701546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Advantages of PCA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309" y="3223260"/>
            <a:ext cx="541615" cy="54161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58309" y="4035623"/>
            <a:ext cx="3630216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Handles Multicollinearity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58309" y="4521756"/>
            <a:ext cx="4190762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Creates new, uncorrelated variables when original features are highly correlated.</a:t>
            </a:r>
            <a:endParaRPr lang="en-US" sz="17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9819" y="3223260"/>
            <a:ext cx="541615" cy="54161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19819" y="4035623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Data Compression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219819" y="4521756"/>
            <a:ext cx="4190762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Represents data with fewer components, reducing storage needs and speeding up processing.</a:t>
            </a:r>
            <a:endParaRPr lang="en-US" sz="17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1329" y="3223260"/>
            <a:ext cx="541615" cy="54161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81329" y="4035623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Noise Reduction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9681329" y="4521756"/>
            <a:ext cx="4190762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Eliminates components with low variance to enhance data clarity.</a:t>
            </a:r>
            <a:endParaRPr lang="en-US" sz="1700" dirty="0"/>
          </a:p>
        </p:txBody>
      </p:sp>
      <p:sp>
        <p:nvSpPr>
          <p:cNvPr id="12" name="Text 7"/>
          <p:cNvSpPr/>
          <p:nvPr/>
        </p:nvSpPr>
        <p:spPr>
          <a:xfrm>
            <a:off x="758309" y="5805607"/>
            <a:ext cx="1311378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PCA also helps with outlier detection by identifying data points that deviate significantly in the reduced space.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7571" y="445889"/>
            <a:ext cx="4267438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200"/>
              </a:lnSpc>
              <a:buNone/>
            </a:pPr>
            <a:r>
              <a:rPr lang="en-US" sz="3350" dirty="0">
                <a:solidFill>
                  <a:srgbClr val="1F1E1E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Limitations of PCA</a:t>
            </a:r>
            <a:endParaRPr lang="en-US" sz="3350" dirty="0"/>
          </a:p>
        </p:txBody>
      </p:sp>
      <p:sp>
        <p:nvSpPr>
          <p:cNvPr id="3" name="Text 1"/>
          <p:cNvSpPr/>
          <p:nvPr/>
        </p:nvSpPr>
        <p:spPr>
          <a:xfrm>
            <a:off x="1094542" y="1404938"/>
            <a:ext cx="6022896" cy="518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BE49DF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Interpretation Challenges</a:t>
            </a:r>
            <a:r>
              <a:rPr lang="en-US" sz="12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: New components are combinations of original variables, making them difficult to explain.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094542" y="2248138"/>
            <a:ext cx="6022896" cy="518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BE49DF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Scaling Sensitivity</a:t>
            </a:r>
            <a:r>
              <a:rPr lang="en-US" sz="12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: Requires proper data scaling or results may be misleading.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094542" y="3091339"/>
            <a:ext cx="6022896" cy="518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BE49DF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Information Loss</a:t>
            </a:r>
            <a:r>
              <a:rPr lang="en-US" sz="12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: May lose important information if too few components are kept.</a:t>
            </a:r>
            <a:endParaRPr lang="en-US" sz="12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0583" y="1404938"/>
            <a:ext cx="6549866" cy="65498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20583" y="8137208"/>
            <a:ext cx="6549866" cy="518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PCA also assumes linear relationships between variables and can be computationally intensive for very large datasets.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474</TotalTime>
  <Words>320</Words>
  <Application>Microsoft Office PowerPoint</Application>
  <PresentationFormat>Custom</PresentationFormat>
  <Paragraphs>38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Arial Rounded MT Bold</vt:lpstr>
      <vt:lpstr>Sitka Subheading</vt:lpstr>
      <vt:lpstr>Alexandria Semi Bold</vt:lpstr>
      <vt:lpstr>Sitka Small</vt:lpstr>
      <vt:lpstr>Sora Light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Devashish Rawat</cp:lastModifiedBy>
  <cp:revision>3</cp:revision>
  <dcterms:created xsi:type="dcterms:W3CDTF">2025-08-25T05:11:20Z</dcterms:created>
  <dcterms:modified xsi:type="dcterms:W3CDTF">2025-08-25T14:09:00Z</dcterms:modified>
</cp:coreProperties>
</file>