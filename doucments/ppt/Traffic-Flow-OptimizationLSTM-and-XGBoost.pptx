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notesSlides/notesSlide6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07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 24575,'407'0'0,"-390"-1"0,0-1 0,0-1 0,25-6 0,-22 4 0,40-5 0,289 8 0,-179 4 0,1360-2 0,-1490 2 0,65 11 0,-63-6 0,61 2 0,686-9 252,-339-1-1869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09.6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24450,'4245'0'0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15.4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31 24575,'3003'0'0,"-2981"-2"0,0 0 0,38-9 0,-37 6 0,1 1 0,27-2 0,366 5 220,-199 3-1805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3.4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24575,'0'491'0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5.4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24575,'665'0'-1365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6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24575,'22'9'0,"-5"0"0,6-2 0,0 1 0,1-1 0,0-1 0,0-1 0,49 4 0,-41-9 0,-1 2 0,0 1 0,33 8 0,-28-5-67,0-2 1,1-1-1,58-4 0,-52 0-1031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28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1 24575,'18'1'0,"0"1"0,-1 0 0,22 7 0,-18-4 0,39 4 0,149 17 0,-186-23 0,6 7 0,-22-3 0,-7-6 0,-1-1 0,1 1 0,0-1 0,-1 0 0,1 1 0,-1-1 0,1 1 0,-1-1 0,1 0 0,0 1 0,-1-1 0,1 0 0,-1 1 0,0-1 0,1 0 0,-1 0 0,1 1 0,-1-1 0,1 0 0,-1 0 0,0 0 0,0 0 0,-26 5 0,-1-1 0,0-2 0,1-1 0,-51-4 0,8 0 0,-304 3-1365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2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24575,'4244'0'-1365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4.5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 24515,'4244'0'0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6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24575,'17'1'0,"0"1"0,32 7 0,7 1 0,348-1 0,-243-11 0,2715 2-1365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38.3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24575,'365'0'0,"-380"0"-1365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0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354 25 24575,'-24'1'0,"0"2"0,0 1 0,1 1 0,-35 11 0,32-8 0,0-1 0,0-2 0,-34 4 0,45-8 0,-29 1 0,40-2 0,6-1 0,23-2 0,31-6 166,83-25 0,22-4-1863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2.0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2.9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3.1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48.84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57 24514,'4214'-57'0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53.3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58 24461,'4185'-58'0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1:57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24575,'4273'0'-1365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0.7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24494,'4330'29'0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6.0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23892,'4185'0'0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5:32:09.2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87 24510,'4388'-87'0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98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5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9.xml"/><Relationship Id="rId12" Type="http://schemas.openxmlformats.org/officeDocument/2006/relationships/customXml" Target="../ink/ink12.xml"/><Relationship Id="rId17" Type="http://schemas.openxmlformats.org/officeDocument/2006/relationships/customXml" Target="../ink/ink15.xml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customXml" Target="../ink/ink8.xml"/><Relationship Id="rId15" Type="http://schemas.openxmlformats.org/officeDocument/2006/relationships/image" Target="../media/image17.png"/><Relationship Id="rId10" Type="http://schemas.openxmlformats.org/officeDocument/2006/relationships/customXml" Target="../ink/ink11.xml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14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customXml" Target="../ink/ink17.xml"/><Relationship Id="rId5" Type="http://schemas.openxmlformats.org/officeDocument/2006/relationships/image" Target="../media/image20.sv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customXml" Target="../ink/ink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8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5" Type="http://schemas.openxmlformats.org/officeDocument/2006/relationships/customXml" Target="../ink/ink2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3738"/>
            <a:ext cx="645914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Flow Optimization(LSTM &amp; XGBoost)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50801"/>
            <a:ext cx="645914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Predicting Traffic Congestion Levels in Bengaluru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02491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By: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Devashish Rawat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73357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463016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4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6298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6787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2721293"/>
            <a:ext cx="76513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Rapid urbanization → growing traffic congestion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36427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0906" y="3685223"/>
            <a:ext cx="70286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systems are </a:t>
            </a:r>
            <a:r>
              <a:rPr lang="en-US" sz="265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reactive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, not predictive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93790" y="46066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0906" y="4649153"/>
            <a:ext cx="985111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Leads to longer commute times, fuel waste, and high pollution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793790" y="557057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0906" y="5613083"/>
            <a:ext cx="1055882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Need a </a:t>
            </a:r>
            <a:r>
              <a:rPr lang="en-US" sz="265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predictive ML system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that forecasts congestion in advance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793790" y="6534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906" y="6577013"/>
            <a:ext cx="939319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Helps city planners and drivers make better route decisions</a:t>
            </a:r>
            <a:endParaRPr lang="en-US" sz="26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CECDD1-E446-6ABD-1AD0-810B00A7FBD1}"/>
                  </a:ext>
                </a:extLst>
              </p14:cNvPr>
              <p14:cNvContentPartPr/>
              <p14:nvPr/>
            </p14:nvContentPartPr>
            <p14:xfrm>
              <a:off x="12946925" y="7958275"/>
              <a:ext cx="1496880" cy="12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CECDD1-E446-6ABD-1AD0-810B00A7FB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3925" y="7895635"/>
                <a:ext cx="1622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007FB0A-1E98-1875-D364-3CE69B39C8D1}"/>
                  </a:ext>
                </a:extLst>
              </p14:cNvPr>
              <p14:cNvContentPartPr/>
              <p14:nvPr/>
            </p14:nvContentPartPr>
            <p14:xfrm>
              <a:off x="12915965" y="7865755"/>
              <a:ext cx="1528560" cy="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007FB0A-1E98-1875-D364-3CE69B39C8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2965" y="7739755"/>
                <a:ext cx="1654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E137F42-0089-C51E-4C3A-5441B557704B}"/>
                  </a:ext>
                </a:extLst>
              </p14:cNvPr>
              <p14:cNvContentPartPr/>
              <p14:nvPr/>
            </p14:nvContentPartPr>
            <p14:xfrm>
              <a:off x="12988685" y="8062675"/>
              <a:ext cx="1382400" cy="11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E137F42-0089-C51E-4C3A-5441B55770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25685" y="7999675"/>
                <a:ext cx="1508040" cy="13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9598" y="463272"/>
            <a:ext cx="4211955" cy="526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Overview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9598" y="1057156"/>
            <a:ext cx="4004667" cy="42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Bangalore Traffic Dataset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89598" y="1899404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Scale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89598" y="2383750"/>
            <a:ext cx="6520101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8,936 records</a:t>
            </a: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6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 features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9598" y="2889171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89598" y="337351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Traffic Volume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9598" y="3702010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598" y="403050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Congestion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598" y="435899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Travel Time Index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598" y="468749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Road Capacity Utilization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598" y="501598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Incident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598" y="5344478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Weather Conditions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598" y="567297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Pedestrian/Cyclist 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28322" y="1899404"/>
            <a:ext cx="2527102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Preprocessing: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528322" y="2383750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value handling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28322" y="2712244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Encoding weather &amp; area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28322" y="3040737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Time-based feature creation (day, month, weekend)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28322" y="3369231"/>
            <a:ext cx="6520101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Lag &amp; rolling features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322" y="3828217"/>
            <a:ext cx="6520101" cy="44610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CDE3146-1BEC-3190-6891-575DB65FF11E}"/>
                  </a:ext>
                </a:extLst>
              </p14:cNvPr>
              <p14:cNvContentPartPr/>
              <p14:nvPr/>
            </p14:nvContentPartPr>
            <p14:xfrm>
              <a:off x="14100365" y="7865755"/>
              <a:ext cx="360" cy="177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CDE3146-1BEC-3190-6891-575DB65FF1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37725" y="7802755"/>
                <a:ext cx="12600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7F24F07-150C-4A7A-8991-DD9D82AFC8BF}"/>
              </a:ext>
            </a:extLst>
          </p:cNvPr>
          <p:cNvGrpSpPr/>
          <p:nvPr/>
        </p:nvGrpSpPr>
        <p:grpSpPr>
          <a:xfrm>
            <a:off x="14151845" y="7845235"/>
            <a:ext cx="322920" cy="189360"/>
            <a:chOff x="14151845" y="7845235"/>
            <a:chExt cx="32292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A4F3E8-307C-3A16-7205-406709E320AC}"/>
                    </a:ext>
                  </a:extLst>
                </p14:cNvPr>
                <p14:cNvContentPartPr/>
                <p14:nvPr/>
              </p14:nvContentPartPr>
              <p14:xfrm>
                <a:off x="14183525" y="7845235"/>
                <a:ext cx="2397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A4F3E8-307C-3A16-7205-406709E32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20525" y="7782235"/>
                  <a:ext cx="365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B51206-5D30-F367-1031-9BDE36598B9D}"/>
                    </a:ext>
                  </a:extLst>
                </p14:cNvPr>
                <p14:cNvContentPartPr/>
                <p14:nvPr/>
              </p14:nvContentPartPr>
              <p14:xfrm>
                <a:off x="14245805" y="7896715"/>
                <a:ext cx="228960" cy="3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B51206-5D30-F367-1031-9BDE36598B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83165" y="7834075"/>
                  <a:ext cx="35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4DD6EE2-621B-2E1E-A17D-F73C8EEB4478}"/>
                    </a:ext>
                  </a:extLst>
                </p14:cNvPr>
                <p14:cNvContentPartPr/>
                <p14:nvPr/>
              </p14:nvContentPartPr>
              <p14:xfrm>
                <a:off x="14151845" y="8000755"/>
                <a:ext cx="232200" cy="3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4DD6EE2-621B-2E1E-A17D-F73C8EEB44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089205" y="7938115"/>
                  <a:ext cx="357840" cy="159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415"/>
            <a:ext cx="12450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We Use LSTM (Long Short-Term Memory)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6822"/>
            <a:ext cx="6407944" cy="2527578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196822"/>
            <a:ext cx="121920" cy="2527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454116"/>
            <a:ext cx="5801916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is a </a:t>
            </a:r>
            <a:r>
              <a:rPr lang="en-US" sz="265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time-series problem</a:t>
            </a: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depends on previous time steps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428548" y="2196822"/>
            <a:ext cx="6408063" cy="2527578"/>
          </a:xfrm>
          <a:prstGeom prst="roundRect">
            <a:avLst>
              <a:gd name="adj" fmla="val 57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196822"/>
            <a:ext cx="121920" cy="25275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7282" y="24541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captures: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7777282" y="3015496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Temporal dependencies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Rush hour cycles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Weekly patterns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Long-term and short-term traffic trends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4951214"/>
            <a:ext cx="6407944" cy="2243971"/>
          </a:xfrm>
          <a:prstGeom prst="roundRect">
            <a:avLst>
              <a:gd name="adj" fmla="val 65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951214"/>
            <a:ext cx="121920" cy="22439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2524" y="5208508"/>
            <a:ext cx="41055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memory cells learn:</a:t>
            </a:r>
            <a:endParaRPr lang="en-US" sz="2650" dirty="0"/>
          </a:p>
        </p:txBody>
      </p:sp>
      <p:sp>
        <p:nvSpPr>
          <p:cNvPr id="13" name="Text 8"/>
          <p:cNvSpPr/>
          <p:nvPr/>
        </p:nvSpPr>
        <p:spPr>
          <a:xfrm>
            <a:off x="1142524" y="576988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congestion rises for some time → likely to continue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142524" y="657498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Regular morning/evening peaks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4951214"/>
            <a:ext cx="6408063" cy="2243971"/>
          </a:xfrm>
          <a:prstGeom prst="roundRect">
            <a:avLst>
              <a:gd name="adj" fmla="val 65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4951214"/>
            <a:ext cx="121920" cy="224397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5208508"/>
            <a:ext cx="5802035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is suitable when historical behavior strongly influences future conditions</a:t>
            </a:r>
            <a:endParaRPr lang="en-US" sz="26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C80F24-CD4B-AB9D-9C15-ED07F327E388}"/>
                  </a:ext>
                </a:extLst>
              </p14:cNvPr>
              <p14:cNvContentPartPr/>
              <p14:nvPr/>
            </p14:nvContentPartPr>
            <p14:xfrm>
              <a:off x="12905165" y="7855675"/>
              <a:ext cx="15282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C80F24-CD4B-AB9D-9C15-ED07F327E3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42525" y="7792675"/>
                <a:ext cx="16538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140181-A02C-970F-9204-1037B4CF1A6F}"/>
                  </a:ext>
                </a:extLst>
              </p14:cNvPr>
              <p14:cNvContentPartPr/>
              <p14:nvPr/>
            </p14:nvContentPartPr>
            <p14:xfrm>
              <a:off x="12926045" y="8032075"/>
              <a:ext cx="152820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140181-A02C-970F-9204-1037B4CF1A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045" y="7906075"/>
                <a:ext cx="1653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8833D76-D2FF-4742-5C25-5F210DCE86FE}"/>
                  </a:ext>
                </a:extLst>
              </p14:cNvPr>
              <p14:cNvContentPartPr/>
              <p14:nvPr/>
            </p14:nvContentPartPr>
            <p14:xfrm>
              <a:off x="12853685" y="7917955"/>
              <a:ext cx="1288800" cy="115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8833D76-D2FF-4742-5C25-5F210DCE86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90685" y="7854955"/>
                <a:ext cx="14144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20693B6-439C-FD96-A7A0-AFB79C6FC3B1}"/>
                  </a:ext>
                </a:extLst>
              </p14:cNvPr>
              <p14:cNvContentPartPr/>
              <p14:nvPr/>
            </p14:nvContentPartPr>
            <p14:xfrm>
              <a:off x="14058965" y="8052955"/>
              <a:ext cx="1317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20693B6-439C-FD96-A7A0-AFB79C6FC3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995965" y="7989955"/>
                <a:ext cx="2574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4E6458-F4AB-136C-254A-CE065B667849}"/>
                  </a:ext>
                </a:extLst>
              </p14:cNvPr>
              <p14:cNvContentPartPr/>
              <p14:nvPr/>
            </p14:nvContentPartPr>
            <p14:xfrm>
              <a:off x="14222765" y="7919395"/>
              <a:ext cx="138240" cy="30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4E6458-F4AB-136C-254A-CE065B6678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59765" y="7856755"/>
                <a:ext cx="2638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FB13274-C2BC-6847-07D3-1F323F6FBE37}"/>
                  </a:ext>
                </a:extLst>
              </p14:cNvPr>
              <p14:cNvContentPartPr/>
              <p14:nvPr/>
            </p14:nvContentPartPr>
            <p14:xfrm>
              <a:off x="14349845" y="7813915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FB13274-C2BC-6847-07D3-1F323F6FBE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87205" y="775091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F91701B-6B8E-E2AB-38D9-AA203278649D}"/>
                  </a:ext>
                </a:extLst>
              </p14:cNvPr>
              <p14:cNvContentPartPr/>
              <p14:nvPr/>
            </p14:nvContentPartPr>
            <p14:xfrm>
              <a:off x="14079485" y="8063035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F91701B-6B8E-E2AB-38D9-AA20327864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16485" y="800039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8EBD11-5C9B-79F1-19C1-89D6D89963B3}"/>
                  </a:ext>
                </a:extLst>
              </p14:cNvPr>
              <p14:cNvContentPartPr/>
              <p14:nvPr/>
            </p14:nvContentPartPr>
            <p14:xfrm>
              <a:off x="14079485" y="8063035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8EBD11-5C9B-79F1-19C1-89D6D89963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16485" y="8000395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8739"/>
            <a:ext cx="58478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We Use XGBoost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114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contains strong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tabular patterns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not only sequences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209806"/>
            <a:ext cx="6407944" cy="3681055"/>
          </a:xfrm>
          <a:prstGeom prst="roundRect">
            <a:avLst>
              <a:gd name="adj" fmla="val 258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3444240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63128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351496"/>
            <a:ext cx="2856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advantages: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4841915"/>
            <a:ext cx="593907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Excellent for structured/tabular data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Learns complex non-linear relationships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Robust to missing values &amp; outliers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Faster training than deep learning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feature importance → interpretability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3209806"/>
            <a:ext cx="6408063" cy="3681055"/>
          </a:xfrm>
          <a:prstGeom prst="roundRect">
            <a:avLst>
              <a:gd name="adj" fmla="val 2588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982" y="3444240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631287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62982" y="4351496"/>
            <a:ext cx="36075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Power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62982" y="484191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extremely well with engineered features (lag values, rolling means, weather, incidents, time features)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BE419D-749C-01C8-E724-1F5C0AF47F15}"/>
                  </a:ext>
                </a:extLst>
              </p14:cNvPr>
              <p14:cNvContentPartPr/>
              <p14:nvPr/>
            </p14:nvContentPartPr>
            <p14:xfrm>
              <a:off x="12915965" y="7855675"/>
              <a:ext cx="1517400" cy="20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BE419D-749C-01C8-E724-1F5C0AF47F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852965" y="7792675"/>
                <a:ext cx="16430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3CC251-18F7-0FE5-3A89-94A2DBE1C9B1}"/>
                  </a:ext>
                </a:extLst>
              </p14:cNvPr>
              <p14:cNvContentPartPr/>
              <p14:nvPr/>
            </p14:nvContentPartPr>
            <p14:xfrm>
              <a:off x="12946925" y="8000755"/>
              <a:ext cx="1506960" cy="2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3CC251-18F7-0FE5-3A89-94A2DBE1C9B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83925" y="7937755"/>
                <a:ext cx="1632600" cy="14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52" y="477679"/>
            <a:ext cx="7177683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XGBoost Outperformed LSTM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052" y="1090017"/>
            <a:ext cx="260592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Actual Results: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08052" y="1763078"/>
            <a:ext cx="6598563" cy="573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-0.0287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821543" y="2553414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R²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8052" y="2929057"/>
            <a:ext cx="6598563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(underfitting)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3666" y="1763078"/>
            <a:ext cx="6598682" cy="573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0.9995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637157" y="2553414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R²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23666" y="2929057"/>
            <a:ext cx="6598682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(near-perfect fit)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8052" y="3467457"/>
            <a:ext cx="2605921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Reasons: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608052" y="4053721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4325898"/>
            <a:ext cx="6620232" cy="228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52" y="4458414"/>
            <a:ext cx="533007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is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small (8,936 rows)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not enough for LSTM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01997" y="4053721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4325898"/>
            <a:ext cx="6620351" cy="228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1997" y="4458414"/>
            <a:ext cx="505027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 are mostly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tabular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, not purely sequential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08052" y="5033843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5287685"/>
            <a:ext cx="6620232" cy="228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052" y="5438537"/>
            <a:ext cx="435971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 greatly helps XGBoost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401997" y="5033843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5287685"/>
            <a:ext cx="6620351" cy="228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1997" y="5438537"/>
            <a:ext cx="622804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needs heavy tuning (window size, scaling, architecture)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08052" y="6013966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3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6250543"/>
            <a:ext cx="6620232" cy="228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8052" y="6418659"/>
            <a:ext cx="585787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patterns are </a:t>
            </a:r>
            <a:r>
              <a:rPr lang="en-US" sz="17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non-linear</a:t>
            </a: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→ XGBoost captures better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7401997" y="6013966"/>
            <a:ext cx="173712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3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97" y="6250543"/>
            <a:ext cx="6620351" cy="228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01997" y="6418659"/>
            <a:ext cx="50224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handles sudden spikes/drops effectively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608052" y="6962775"/>
            <a:ext cx="13414296" cy="738068"/>
          </a:xfrm>
          <a:prstGeom prst="roundRect">
            <a:avLst>
              <a:gd name="adj" fmla="val 9886"/>
            </a:avLst>
          </a:prstGeom>
          <a:solidFill>
            <a:srgbClr val="D4D5DE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64" y="7225903"/>
            <a:ext cx="217051" cy="1737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72528" y="7232809"/>
            <a:ext cx="12676108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</a:t>
            </a: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XGBoost fits this dataset better due to its structure and size.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998CFDF-BBD5-091F-D70D-5230608A41C4}"/>
                  </a:ext>
                </a:extLst>
              </p14:cNvPr>
              <p14:cNvContentPartPr/>
              <p14:nvPr/>
            </p14:nvContentPartPr>
            <p14:xfrm>
              <a:off x="12926405" y="7886275"/>
              <a:ext cx="153828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998CFDF-BBD5-091F-D70D-5230608A41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405" y="7823635"/>
                <a:ext cx="1663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D3CBD65-B204-DF7E-3D98-E49482488966}"/>
                  </a:ext>
                </a:extLst>
              </p14:cNvPr>
              <p14:cNvContentPartPr/>
              <p14:nvPr/>
            </p14:nvContentPartPr>
            <p14:xfrm>
              <a:off x="12915965" y="8021275"/>
              <a:ext cx="1559160" cy="11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D3CBD65-B204-DF7E-3D98-E494824889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52965" y="7958635"/>
                <a:ext cx="1684800" cy="13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9503"/>
            <a:ext cx="5687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Streamlit Application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38444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an interactive web app using </a:t>
            </a: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63211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Features: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3397568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User inputs traffic parameters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839766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Model selection (LSTM / XGBoost)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281964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Predicts congestion level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724162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✔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Visualizes results with charts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4272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Helps users: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793790" y="6192679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 traffic conditions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634877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Make informed travel decisions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7077075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congestion patterns in real-time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2377"/>
            <a:ext cx="7232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8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94192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traffic congestion prediction system using LSTM &amp; XGBoost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470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 achieved much stronger performance on this dataset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521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Streamlit app offers an intuitive and interactive interface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48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Scope: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599521" y="39419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real-time live traffic APIs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84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LSTM with bigger datasets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263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 a mobile version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2685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hybrid ensemble model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7107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 route optimization with Google Maps API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2732F71-CDB4-6AB2-86AA-F92F005EA1B7}"/>
                  </a:ext>
                </a:extLst>
              </p14:cNvPr>
              <p14:cNvContentPartPr/>
              <p14:nvPr/>
            </p14:nvContentPartPr>
            <p14:xfrm>
              <a:off x="12874205" y="7875835"/>
              <a:ext cx="15069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2732F71-CDB4-6AB2-86AA-F92F005EA1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11205" y="7813195"/>
                <a:ext cx="16326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1289F4-19D4-B7B4-0391-BDFA59F62B99}"/>
                  </a:ext>
                </a:extLst>
              </p14:cNvPr>
              <p14:cNvContentPartPr/>
              <p14:nvPr/>
            </p14:nvContentPartPr>
            <p14:xfrm>
              <a:off x="12926045" y="8000755"/>
              <a:ext cx="1579680" cy="31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1289F4-19D4-B7B4-0391-BDFA59F62B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63045" y="7937755"/>
                <a:ext cx="1705320" cy="15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</Words>
  <Application>Microsoft Office PowerPoint</Application>
  <PresentationFormat>Custom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Light</vt:lpstr>
      <vt:lpstr>Instrument Sans Medium</vt:lpstr>
      <vt:lpstr>Arial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Devashish Rawat</cp:lastModifiedBy>
  <cp:revision>3</cp:revision>
  <dcterms:created xsi:type="dcterms:W3CDTF">2025-11-19T15:29:58Z</dcterms:created>
  <dcterms:modified xsi:type="dcterms:W3CDTF">2025-11-22T09:27:22Z</dcterms:modified>
</cp:coreProperties>
</file>