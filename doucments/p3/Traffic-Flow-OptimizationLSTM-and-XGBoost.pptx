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4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5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notesSlides/notesSlide6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Instrument Sans Medium" panose="020B0604020202020204" charset="0"/>
      <p:regular r:id="rId11"/>
    </p:embeddedFont>
    <p:embeddedFont>
      <p:font typeface="Instrument Sans Semi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07.0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33 24575,'407'0'0,"-390"-1"0,0-1 0,0-1 0,25-6 0,-22 4 0,40-5 0,289 8 0,-179 4 0,1360-2 0,-1490 2 0,65 11 0,-63-6 0,61 2 0,686-9 252,-339-1-1869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09.6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24450,'4245'0'0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15.4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31 24575,'3003'0'0,"-2981"-2"0,0 0 0,38-9 0,-37 6 0,1 1 0,27-2 0,366 5 220,-199 3-1805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23.4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24575,'0'491'0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25.4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24575,'665'0'-1365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26.3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24575,'22'9'0,"-5"0"0,6-2 0,0 1 0,1-1 0,0-1 0,0-1 0,49 4 0,-41-9 0,-1 2 0,0 1 0,33 8 0,-28-5-67,0-2 1,1-1-1,58-4 0,-52 0-1031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28.3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204 1 24575,'18'1'0,"0"1"0,-1 0 0,22 7 0,-18-4 0,39 4 0,149 17 0,-186-23 0,6 7 0,-22-3 0,-7-6 0,-1-1 0,1 1 0,0-1 0,-1 0 0,1 1 0,-1-1 0,1 1 0,-1-1 0,1 0 0,0 1 0,-1-1 0,1 0 0,-1 1 0,0-1 0,1 0 0,-1 0 0,1 1 0,-1-1 0,1 0 0,-1 0 0,0 0 0,0 0 0,-26 5 0,-1-1 0,0-2 0,1-1 0,-51-4 0,8 0 0,-304 3-1365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32.3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24575,'4244'0'-1365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34.5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11 24515,'4244'0'0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36.8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24575,'17'1'0,"0"1"0,32 7 0,7 1 0,348-1 0,-243-11 0,2715 2-1365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38.3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24575,'365'0'0,"-380"0"-1365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40.8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354 25 24575,'-24'1'0,"0"2"0,0 1 0,1 1 0,-35 11 0,32-8 0,0-1 0,0-2 0,-34 4 0,45-8 0,-29 1 0,40-2 0,6-1 0,23-2 0,31-6 166,83-25 0,22-4-1863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42.0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42.9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43.1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48.8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57 24514,'4214'-57'0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53.3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58 24461,'4185'-58'0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57.9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24575,'4273'0'-1365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2:00.7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24494,'4330'29'0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2:06.0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23892,'4185'0'0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2:09.2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87 24510,'4388'-87'0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7984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5.xm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customXml" Target="../ink/ink7.xml"/><Relationship Id="rId4" Type="http://schemas.openxmlformats.org/officeDocument/2006/relationships/customXml" Target="../ink/ink4.xml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13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customXml" Target="../ink/ink9.xml"/><Relationship Id="rId12" Type="http://schemas.openxmlformats.org/officeDocument/2006/relationships/customXml" Target="../ink/ink12.xml"/><Relationship Id="rId17" Type="http://schemas.openxmlformats.org/officeDocument/2006/relationships/customXml" Target="../ink/ink15.xml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5.png"/><Relationship Id="rId5" Type="http://schemas.openxmlformats.org/officeDocument/2006/relationships/customXml" Target="../ink/ink8.xml"/><Relationship Id="rId15" Type="http://schemas.openxmlformats.org/officeDocument/2006/relationships/image" Target="../media/image17.png"/><Relationship Id="rId10" Type="http://schemas.openxmlformats.org/officeDocument/2006/relationships/customXml" Target="../ink/ink11.xml"/><Relationship Id="rId4" Type="http://schemas.openxmlformats.org/officeDocument/2006/relationships/image" Target="../media/image13.png"/><Relationship Id="rId9" Type="http://schemas.openxmlformats.org/officeDocument/2006/relationships/image" Target="../media/image14.png"/><Relationship Id="rId14" Type="http://schemas.openxmlformats.org/officeDocument/2006/relationships/customXml" Target="../ink/ink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customXml" Target="../ink/ink17.xml"/><Relationship Id="rId5" Type="http://schemas.openxmlformats.org/officeDocument/2006/relationships/image" Target="../media/image20.sv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customXml" Target="../ink/ink1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customXml" Target="../ink/ink1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customXml" Target="../ink/ink18.xml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2.png"/><Relationship Id="rId5" Type="http://schemas.openxmlformats.org/officeDocument/2006/relationships/customXml" Target="../ink/ink21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0"/>
            <a:ext cx="658368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33738"/>
            <a:ext cx="645914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Traffic Flow Optimization(LSTM &amp; XGBoost)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550801"/>
            <a:ext cx="645914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Predicting Traffic Congestion Levels in Bengaluru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5024914"/>
            <a:ext cx="645914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By:</a:t>
            </a:r>
            <a:r>
              <a:rPr lang="en-US" sz="2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Devashish Rawat (231B097)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733574"/>
            <a:ext cx="645914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   Akshit Shukla  (231B032)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6442234"/>
            <a:ext cx="645914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  Ayushmaan Kumar (231B083)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847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6298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67878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0906" y="2721293"/>
            <a:ext cx="765131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Rapid urbanization → growing traffic congestion</a:t>
            </a:r>
            <a:endParaRPr lang="en-US" sz="2650" dirty="0"/>
          </a:p>
        </p:txBody>
      </p:sp>
      <p:sp>
        <p:nvSpPr>
          <p:cNvPr id="6" name="Shape 4"/>
          <p:cNvSpPr/>
          <p:nvPr/>
        </p:nvSpPr>
        <p:spPr>
          <a:xfrm>
            <a:off x="793790" y="364271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30906" y="3685223"/>
            <a:ext cx="702861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Existing systems are </a:t>
            </a:r>
            <a:r>
              <a:rPr lang="en-US" sz="2650" b="1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reactive</a:t>
            </a: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, not predictive</a:t>
            </a:r>
            <a:endParaRPr lang="en-US" sz="2650" dirty="0"/>
          </a:p>
        </p:txBody>
      </p:sp>
      <p:sp>
        <p:nvSpPr>
          <p:cNvPr id="8" name="Shape 6"/>
          <p:cNvSpPr/>
          <p:nvPr/>
        </p:nvSpPr>
        <p:spPr>
          <a:xfrm>
            <a:off x="793790" y="46066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0906" y="4649153"/>
            <a:ext cx="985111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Leads to longer commute times, fuel waste, and high pollution</a:t>
            </a:r>
            <a:endParaRPr lang="en-US" sz="2650" dirty="0"/>
          </a:p>
        </p:txBody>
      </p:sp>
      <p:sp>
        <p:nvSpPr>
          <p:cNvPr id="10" name="Shape 8"/>
          <p:cNvSpPr/>
          <p:nvPr/>
        </p:nvSpPr>
        <p:spPr>
          <a:xfrm>
            <a:off x="793790" y="557057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0906" y="5613083"/>
            <a:ext cx="1055882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Need a </a:t>
            </a:r>
            <a:r>
              <a:rPr lang="en-US" sz="2650" b="1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predictive ML system</a:t>
            </a: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that forecasts congestion in advance</a:t>
            </a:r>
            <a:endParaRPr lang="en-US" sz="2650" dirty="0"/>
          </a:p>
        </p:txBody>
      </p:sp>
      <p:sp>
        <p:nvSpPr>
          <p:cNvPr id="12" name="Shape 10"/>
          <p:cNvSpPr/>
          <p:nvPr/>
        </p:nvSpPr>
        <p:spPr>
          <a:xfrm>
            <a:off x="793790" y="653450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30906" y="6577013"/>
            <a:ext cx="939319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Helps city planners and drivers make better route decisions</a:t>
            </a:r>
            <a:endParaRPr lang="en-US" sz="26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ACECDD1-E446-6ABD-1AD0-810B00A7FBD1}"/>
                  </a:ext>
                </a:extLst>
              </p14:cNvPr>
              <p14:cNvContentPartPr/>
              <p14:nvPr/>
            </p14:nvContentPartPr>
            <p14:xfrm>
              <a:off x="12946925" y="7958275"/>
              <a:ext cx="1496880" cy="12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ACECDD1-E446-6ABD-1AD0-810B00A7FB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83925" y="7895635"/>
                <a:ext cx="16225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007FB0A-1E98-1875-D364-3CE69B39C8D1}"/>
                  </a:ext>
                </a:extLst>
              </p14:cNvPr>
              <p14:cNvContentPartPr/>
              <p14:nvPr/>
            </p14:nvContentPartPr>
            <p14:xfrm>
              <a:off x="12915965" y="7865755"/>
              <a:ext cx="1528560" cy="7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007FB0A-1E98-1875-D364-3CE69B39C8D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52965" y="7739755"/>
                <a:ext cx="16542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E137F42-0089-C51E-4C3A-5441B557704B}"/>
                  </a:ext>
                </a:extLst>
              </p14:cNvPr>
              <p14:cNvContentPartPr/>
              <p14:nvPr/>
            </p14:nvContentPartPr>
            <p14:xfrm>
              <a:off x="12988685" y="8062675"/>
              <a:ext cx="1382400" cy="111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E137F42-0089-C51E-4C3A-5441B557704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925685" y="7999675"/>
                <a:ext cx="1508040" cy="136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598" y="463272"/>
            <a:ext cx="4211955" cy="526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Dataset Overview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89598" y="1057156"/>
            <a:ext cx="4004667" cy="42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Bangalore Traffic Dataset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589598" y="1899404"/>
            <a:ext cx="2527102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Dataset Scale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589598" y="2383750"/>
            <a:ext cx="6520101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8,936 records</a:t>
            </a: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sz="16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16 features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89598" y="2889171"/>
            <a:ext cx="2527102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features: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89598" y="3373517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Traffic Volume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9598" y="3702010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Average Speed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9598" y="4030504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Congestion Level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9598" y="4358997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Travel Time Index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9598" y="4687491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Road Capacity Utilization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9598" y="5015984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Incident Reports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9598" y="5344478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Weather Conditions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9598" y="5672971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Pedestrian/Cyclist Count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28322" y="1899404"/>
            <a:ext cx="2527102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Preprocessing: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528322" y="2383750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Missing value handling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28322" y="2712244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Encoding weather &amp; area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28322" y="3040737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Time-based feature creation (day, month, weekend)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28322" y="3369231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Lag &amp; rolling features</a:t>
            </a:r>
            <a:endParaRPr lang="en-US" sz="13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322" y="3828217"/>
            <a:ext cx="6520101" cy="446103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CDE3146-1BEC-3190-6891-575DB65FF11E}"/>
                  </a:ext>
                </a:extLst>
              </p14:cNvPr>
              <p14:cNvContentPartPr/>
              <p14:nvPr/>
            </p14:nvContentPartPr>
            <p14:xfrm>
              <a:off x="14100365" y="7865755"/>
              <a:ext cx="360" cy="1771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CDE3146-1BEC-3190-6891-575DB65FF11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037725" y="7802755"/>
                <a:ext cx="126000" cy="30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07F24F07-150C-4A7A-8991-DD9D82AFC8BF}"/>
              </a:ext>
            </a:extLst>
          </p:cNvPr>
          <p:cNvGrpSpPr/>
          <p:nvPr/>
        </p:nvGrpSpPr>
        <p:grpSpPr>
          <a:xfrm>
            <a:off x="14151845" y="7845235"/>
            <a:ext cx="322920" cy="189360"/>
            <a:chOff x="14151845" y="7845235"/>
            <a:chExt cx="322920" cy="18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9A4F3E8-307C-3A16-7205-406709E320AC}"/>
                    </a:ext>
                  </a:extLst>
                </p14:cNvPr>
                <p14:cNvContentPartPr/>
                <p14:nvPr/>
              </p14:nvContentPartPr>
              <p14:xfrm>
                <a:off x="14183525" y="7845235"/>
                <a:ext cx="239760" cy="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9A4F3E8-307C-3A16-7205-406709E320A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120525" y="7782235"/>
                  <a:ext cx="3654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6B51206-5D30-F367-1031-9BDE36598B9D}"/>
                    </a:ext>
                  </a:extLst>
                </p14:cNvPr>
                <p14:cNvContentPartPr/>
                <p14:nvPr/>
              </p14:nvContentPartPr>
              <p14:xfrm>
                <a:off x="14245805" y="7896715"/>
                <a:ext cx="228960" cy="32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6B51206-5D30-F367-1031-9BDE36598B9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183165" y="7834075"/>
                  <a:ext cx="3546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4DD6EE2-621B-2E1E-A17D-F73C8EEB4478}"/>
                    </a:ext>
                  </a:extLst>
                </p14:cNvPr>
                <p14:cNvContentPartPr/>
                <p14:nvPr/>
              </p14:nvContentPartPr>
              <p14:xfrm>
                <a:off x="14151845" y="8000755"/>
                <a:ext cx="232200" cy="33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4DD6EE2-621B-2E1E-A17D-F73C8EEB447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089205" y="7938115"/>
                  <a:ext cx="357840" cy="1594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4415"/>
            <a:ext cx="124508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We Use LSTM (Long Short-Term Memory)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96822"/>
            <a:ext cx="6407944" cy="2527578"/>
          </a:xfrm>
          <a:prstGeom prst="roundRect">
            <a:avLst>
              <a:gd name="adj" fmla="val 57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2196822"/>
            <a:ext cx="121920" cy="25275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2454116"/>
            <a:ext cx="5801916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Traffic is a </a:t>
            </a:r>
            <a:r>
              <a:rPr lang="en-US" sz="265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time-series problem</a:t>
            </a: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→ depends on previous time steps</a:t>
            </a:r>
            <a:endParaRPr lang="en-US" sz="2650" dirty="0"/>
          </a:p>
        </p:txBody>
      </p:sp>
      <p:sp>
        <p:nvSpPr>
          <p:cNvPr id="6" name="Shape 3"/>
          <p:cNvSpPr/>
          <p:nvPr/>
        </p:nvSpPr>
        <p:spPr>
          <a:xfrm>
            <a:off x="7428548" y="2196822"/>
            <a:ext cx="6408063" cy="2527578"/>
          </a:xfrm>
          <a:prstGeom prst="roundRect">
            <a:avLst>
              <a:gd name="adj" fmla="val 57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2196822"/>
            <a:ext cx="121920" cy="25275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7282" y="245411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LSTM captures:</a:t>
            </a:r>
            <a:endParaRPr lang="en-US" sz="2650" dirty="0"/>
          </a:p>
        </p:txBody>
      </p:sp>
      <p:sp>
        <p:nvSpPr>
          <p:cNvPr id="9" name="Text 5"/>
          <p:cNvSpPr/>
          <p:nvPr/>
        </p:nvSpPr>
        <p:spPr>
          <a:xfrm>
            <a:off x="7777282" y="3015496"/>
            <a:ext cx="58020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Temporal dependencies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Rush hour cycles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Weekly patterns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Long-term and short-term traffic trends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793790" y="4951214"/>
            <a:ext cx="6407944" cy="2243971"/>
          </a:xfrm>
          <a:prstGeom prst="roundRect">
            <a:avLst>
              <a:gd name="adj" fmla="val 652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0" y="4951214"/>
            <a:ext cx="121920" cy="224397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2524" y="5208508"/>
            <a:ext cx="410551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LSTM memory cells learn:</a:t>
            </a:r>
            <a:endParaRPr lang="en-US" sz="2650" dirty="0"/>
          </a:p>
        </p:txBody>
      </p:sp>
      <p:sp>
        <p:nvSpPr>
          <p:cNvPr id="13" name="Text 8"/>
          <p:cNvSpPr/>
          <p:nvPr/>
        </p:nvSpPr>
        <p:spPr>
          <a:xfrm>
            <a:off x="1142524" y="5769888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If congestion rises for some time → likely to continue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1142524" y="6574988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Regular morning/evening peaks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28548" y="4951214"/>
            <a:ext cx="6408063" cy="2243971"/>
          </a:xfrm>
          <a:prstGeom prst="roundRect">
            <a:avLst>
              <a:gd name="adj" fmla="val 652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067" y="4951214"/>
            <a:ext cx="121920" cy="224397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7282" y="5208508"/>
            <a:ext cx="5802035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LSTM is suitable when historical behavior strongly influences future conditions</a:t>
            </a:r>
            <a:endParaRPr lang="en-US" sz="26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5C80F24-CD4B-AB9D-9C15-ED07F327E388}"/>
                  </a:ext>
                </a:extLst>
              </p14:cNvPr>
              <p14:cNvContentPartPr/>
              <p14:nvPr/>
            </p14:nvContentPartPr>
            <p14:xfrm>
              <a:off x="12905165" y="7855675"/>
              <a:ext cx="152820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5C80F24-CD4B-AB9D-9C15-ED07F327E3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42525" y="7792675"/>
                <a:ext cx="16538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4140181-A02C-970F-9204-1037B4CF1A6F}"/>
                  </a:ext>
                </a:extLst>
              </p14:cNvPr>
              <p14:cNvContentPartPr/>
              <p14:nvPr/>
            </p14:nvContentPartPr>
            <p14:xfrm>
              <a:off x="12926045" y="8032075"/>
              <a:ext cx="1528200" cy="7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4140181-A02C-970F-9204-1037B4CF1A6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63045" y="7906075"/>
                <a:ext cx="16538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8833D76-D2FF-4742-5C25-5F210DCE86FE}"/>
                  </a:ext>
                </a:extLst>
              </p14:cNvPr>
              <p14:cNvContentPartPr/>
              <p14:nvPr/>
            </p14:nvContentPartPr>
            <p14:xfrm>
              <a:off x="12853685" y="7917955"/>
              <a:ext cx="1288800" cy="115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8833D76-D2FF-4742-5C25-5F210DCE86F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790685" y="7854955"/>
                <a:ext cx="141444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20693B6-439C-FD96-A7A0-AFB79C6FC3B1}"/>
                  </a:ext>
                </a:extLst>
              </p14:cNvPr>
              <p14:cNvContentPartPr/>
              <p14:nvPr/>
            </p14:nvContentPartPr>
            <p14:xfrm>
              <a:off x="14058965" y="8052955"/>
              <a:ext cx="13176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20693B6-439C-FD96-A7A0-AFB79C6FC3B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995965" y="7989955"/>
                <a:ext cx="2574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34E6458-F4AB-136C-254A-CE065B667849}"/>
                  </a:ext>
                </a:extLst>
              </p14:cNvPr>
              <p14:cNvContentPartPr/>
              <p14:nvPr/>
            </p14:nvContentPartPr>
            <p14:xfrm>
              <a:off x="14222765" y="7919395"/>
              <a:ext cx="138240" cy="309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34E6458-F4AB-136C-254A-CE065B66784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159765" y="7856755"/>
                <a:ext cx="26388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FB13274-C2BC-6847-07D3-1F323F6FBE37}"/>
                  </a:ext>
                </a:extLst>
              </p14:cNvPr>
              <p14:cNvContentPartPr/>
              <p14:nvPr/>
            </p14:nvContentPartPr>
            <p14:xfrm>
              <a:off x="14349845" y="7813915"/>
              <a:ext cx="36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FB13274-C2BC-6847-07D3-1F323F6FBE3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287205" y="7750915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F91701B-6B8E-E2AB-38D9-AA203278649D}"/>
                  </a:ext>
                </a:extLst>
              </p14:cNvPr>
              <p14:cNvContentPartPr/>
              <p14:nvPr/>
            </p14:nvContentPartPr>
            <p14:xfrm>
              <a:off x="14079485" y="8063035"/>
              <a:ext cx="360" cy="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F91701B-6B8E-E2AB-38D9-AA203278649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016485" y="8000395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B8EBD11-5C9B-79F1-19C1-89D6D89963B3}"/>
                  </a:ext>
                </a:extLst>
              </p14:cNvPr>
              <p14:cNvContentPartPr/>
              <p14:nvPr/>
            </p14:nvContentPartPr>
            <p14:xfrm>
              <a:off x="14079485" y="8063035"/>
              <a:ext cx="36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B8EBD11-5C9B-79F1-19C1-89D6D89963B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016485" y="8000395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8739"/>
            <a:ext cx="58478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We Use XGBoost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01146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 contains strong </a:t>
            </a:r>
            <a:r>
              <a:rPr lang="en-US" sz="22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tabular patterns</a:t>
            </a:r>
            <a:r>
              <a:rPr lang="en-US" sz="2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not only sequences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3209806"/>
            <a:ext cx="6407944" cy="3681055"/>
          </a:xfrm>
          <a:prstGeom prst="roundRect">
            <a:avLst>
              <a:gd name="adj" fmla="val 258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24" y="3444240"/>
            <a:ext cx="680442" cy="68044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390" y="3631287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224" y="4351496"/>
            <a:ext cx="28564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XGBoost advantages: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8224" y="4841915"/>
            <a:ext cx="593907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Excellent for structured/tabular data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Learns complex non-linear relationships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Robust to missing values &amp; outliers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Faster training than deep learning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Provides feature importance → interpretability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7428548" y="3209806"/>
            <a:ext cx="6408063" cy="3681055"/>
          </a:xfrm>
          <a:prstGeom prst="roundRect">
            <a:avLst>
              <a:gd name="adj" fmla="val 258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982" y="3444240"/>
            <a:ext cx="680442" cy="68044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0148" y="3631287"/>
            <a:ext cx="306110" cy="30611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62982" y="4351496"/>
            <a:ext cx="36075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 Engineering Power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7662982" y="4841915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Works extremely well with engineered features (lag values, rolling means, weather, incidents, time features)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FBE419D-749C-01C8-E724-1F5C0AF47F15}"/>
                  </a:ext>
                </a:extLst>
              </p14:cNvPr>
              <p14:cNvContentPartPr/>
              <p14:nvPr/>
            </p14:nvContentPartPr>
            <p14:xfrm>
              <a:off x="12915965" y="7855675"/>
              <a:ext cx="1517400" cy="208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FBE419D-749C-01C8-E724-1F5C0AF47F1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852965" y="7792675"/>
                <a:ext cx="164304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03CC251-18F7-0FE5-3A89-94A2DBE1C9B1}"/>
                  </a:ext>
                </a:extLst>
              </p14:cNvPr>
              <p14:cNvContentPartPr/>
              <p14:nvPr/>
            </p14:nvContentPartPr>
            <p14:xfrm>
              <a:off x="12946925" y="8000755"/>
              <a:ext cx="1506960" cy="212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03CC251-18F7-0FE5-3A89-94A2DBE1C9B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83925" y="7937755"/>
                <a:ext cx="1632600" cy="146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052" y="477679"/>
            <a:ext cx="7177683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XGBoost Outperformed LSTM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8052" y="1090017"/>
            <a:ext cx="2605921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Actual Results: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608052" y="1763078"/>
            <a:ext cx="6598563" cy="573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-0.0287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2821543" y="2553414"/>
            <a:ext cx="217158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LSTM R²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8052" y="2929057"/>
            <a:ext cx="6598563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(underfitting)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23666" y="1763078"/>
            <a:ext cx="6598682" cy="573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0.9995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9637157" y="2553414"/>
            <a:ext cx="217158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XGBoost R²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23666" y="2929057"/>
            <a:ext cx="6598682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(near-perfect fit)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8052" y="3467457"/>
            <a:ext cx="2605921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Reasons: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608052" y="4053721"/>
            <a:ext cx="173712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3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52" y="4325898"/>
            <a:ext cx="6620232" cy="228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08052" y="4458414"/>
            <a:ext cx="533007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Dataset is </a:t>
            </a:r>
            <a:r>
              <a:rPr lang="en-US" sz="17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small (8,936 rows)</a:t>
            </a: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→ not enough for LSTM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401997" y="4053721"/>
            <a:ext cx="173712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3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997" y="4325898"/>
            <a:ext cx="6620351" cy="228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01997" y="4458414"/>
            <a:ext cx="5050274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Features are mostly </a:t>
            </a:r>
            <a:r>
              <a:rPr lang="en-US" sz="17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tabular</a:t>
            </a: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, not purely sequential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08052" y="5033843"/>
            <a:ext cx="173712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3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52" y="5287685"/>
            <a:ext cx="6620232" cy="228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8052" y="5438537"/>
            <a:ext cx="4359712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 engineering greatly helps XGBoost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7401997" y="5033843"/>
            <a:ext cx="173712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3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997" y="5287685"/>
            <a:ext cx="6620351" cy="228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1997" y="5438537"/>
            <a:ext cx="622804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LSTM needs heavy tuning (window size, scaling, architecture)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08052" y="6013966"/>
            <a:ext cx="173712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13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52" y="6250543"/>
            <a:ext cx="6620232" cy="228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08052" y="6418659"/>
            <a:ext cx="585787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Traffic patterns are </a:t>
            </a:r>
            <a:r>
              <a:rPr lang="en-US" sz="17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non-linear</a:t>
            </a: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→ XGBoost captures better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7401997" y="6013966"/>
            <a:ext cx="173712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06</a:t>
            </a:r>
            <a:endParaRPr lang="en-US" sz="135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997" y="6250543"/>
            <a:ext cx="6620351" cy="228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401997" y="6418659"/>
            <a:ext cx="50224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XGBoost handles sudden spikes/drops effectively</a:t>
            </a:r>
            <a:endParaRPr lang="en-US" sz="1700" dirty="0"/>
          </a:p>
        </p:txBody>
      </p:sp>
      <p:sp>
        <p:nvSpPr>
          <p:cNvPr id="29" name="Shape 21"/>
          <p:cNvSpPr/>
          <p:nvPr/>
        </p:nvSpPr>
        <p:spPr>
          <a:xfrm>
            <a:off x="608052" y="6962775"/>
            <a:ext cx="13414296" cy="738068"/>
          </a:xfrm>
          <a:prstGeom prst="roundRect">
            <a:avLst>
              <a:gd name="adj" fmla="val 9886"/>
            </a:avLst>
          </a:prstGeom>
          <a:solidFill>
            <a:srgbClr val="D4D5DE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64" y="7225903"/>
            <a:ext cx="217051" cy="17371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172528" y="7232809"/>
            <a:ext cx="12676108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Conclusion:</a:t>
            </a: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XGBoost fits this dataset better due to its structure and size.</a:t>
            </a:r>
            <a:endParaRPr lang="en-US" sz="13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998CFDF-BBD5-091F-D70D-5230608A41C4}"/>
                  </a:ext>
                </a:extLst>
              </p14:cNvPr>
              <p14:cNvContentPartPr/>
              <p14:nvPr/>
            </p14:nvContentPartPr>
            <p14:xfrm>
              <a:off x="12926405" y="7886275"/>
              <a:ext cx="1538280" cy="3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998CFDF-BBD5-091F-D70D-5230608A41C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63405" y="7823635"/>
                <a:ext cx="166392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D3CBD65-B204-DF7E-3D98-E49482488966}"/>
                  </a:ext>
                </a:extLst>
              </p14:cNvPr>
              <p14:cNvContentPartPr/>
              <p14:nvPr/>
            </p14:nvContentPartPr>
            <p14:xfrm>
              <a:off x="12915965" y="8021275"/>
              <a:ext cx="1559160" cy="111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D3CBD65-B204-DF7E-3D98-E4948248896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52965" y="7958635"/>
                <a:ext cx="1684800" cy="136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0"/>
            <a:ext cx="658368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89503"/>
            <a:ext cx="56879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Streamlit Application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1838444"/>
            <a:ext cx="645914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Built an interactive web app using </a:t>
            </a:r>
            <a:r>
              <a:rPr lang="en-US" sz="22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Streamlit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263211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Features: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93790" y="3397568"/>
            <a:ext cx="64591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User inputs traffic parameters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3839766"/>
            <a:ext cx="64591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Model selection (LSTM / XGBoost)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4281964"/>
            <a:ext cx="64591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Predicts congestion level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4724162"/>
            <a:ext cx="64591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Visualizes results with charts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42722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Helps users: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793790" y="6192679"/>
            <a:ext cx="64591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Understand traffic conditions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6634877"/>
            <a:ext cx="64591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Make informed travel decisions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7077075"/>
            <a:ext cx="64591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Explore congestion patterns in real-time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2377"/>
            <a:ext cx="72329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 &amp; Future Scope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4813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Conclusion: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94192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Developed a traffic congestion prediction system using LSTM &amp; XGBoost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4702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XGBoost achieved much stronger performance on this dataset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55212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Streamlit app offers an intuitive and interactive interface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14813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Future Scope:</a:t>
            </a:r>
            <a:endParaRPr lang="en-US" sz="3550" dirty="0"/>
          </a:p>
        </p:txBody>
      </p:sp>
      <p:sp>
        <p:nvSpPr>
          <p:cNvPr id="8" name="Text 6"/>
          <p:cNvSpPr/>
          <p:nvPr/>
        </p:nvSpPr>
        <p:spPr>
          <a:xfrm>
            <a:off x="7599521" y="394192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Integrate real-time live traffic APIs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38411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Improve LSTM with bigger datasets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8263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 a mobile version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26851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 a hybrid ensemble model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71071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Add route optimization with Google Maps API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2732F71-CDB4-6AB2-86AA-F92F005EA1B7}"/>
                  </a:ext>
                </a:extLst>
              </p14:cNvPr>
              <p14:cNvContentPartPr/>
              <p14:nvPr/>
            </p14:nvContentPartPr>
            <p14:xfrm>
              <a:off x="12874205" y="7875835"/>
              <a:ext cx="150696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2732F71-CDB4-6AB2-86AA-F92F005EA1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11205" y="7813195"/>
                <a:ext cx="16326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A1289F4-19D4-B7B4-0391-BDFA59F62B99}"/>
                  </a:ext>
                </a:extLst>
              </p14:cNvPr>
              <p14:cNvContentPartPr/>
              <p14:nvPr/>
            </p14:nvContentPartPr>
            <p14:xfrm>
              <a:off x="12926045" y="8000755"/>
              <a:ext cx="1579680" cy="316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A1289F4-19D4-B7B4-0391-BDFA59F62B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63045" y="7937755"/>
                <a:ext cx="1705320" cy="157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483</Words>
  <Application>Microsoft Office PowerPoint</Application>
  <PresentationFormat>Custom</PresentationFormat>
  <Paragraphs>96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Instrument Sans Medium</vt:lpstr>
      <vt:lpstr>Arial</vt:lpstr>
      <vt:lpstr>Instrument Sans Semi Bold</vt:lpstr>
      <vt:lpstr>Instrument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Devashish Rawat</cp:lastModifiedBy>
  <cp:revision>2</cp:revision>
  <dcterms:created xsi:type="dcterms:W3CDTF">2025-11-19T15:29:58Z</dcterms:created>
  <dcterms:modified xsi:type="dcterms:W3CDTF">2025-11-19T15:32:15Z</dcterms:modified>
</cp:coreProperties>
</file>